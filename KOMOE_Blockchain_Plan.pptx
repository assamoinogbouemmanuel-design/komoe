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F3A"/>
          </a:solidFill>
          <a:ln w="12700">
            <a:solidFill>
              <a:srgbClr val="0B1F3A"/>
            </a:solidFill>
            <a:prstDash val="solid"/>
          </a:ln>
        </p:spPr>
      </p:sp>
      <p:sp>
        <p:nvSpPr>
          <p:cNvPr id="3" name="Shape 1"/>
          <p:cNvSpPr/>
          <p:nvPr/>
        </p:nvSpPr>
        <p:spPr>
          <a:xfrm>
            <a:off x="5943600" y="0"/>
            <a:ext cx="3200400" cy="5143500"/>
          </a:xfrm>
          <a:prstGeom prst="rect">
            <a:avLst/>
          </a:prstGeom>
          <a:solidFill>
            <a:srgbClr val="1A4E8F">
              <a:alpha val="25000"/>
            </a:srgbClr>
          </a:solidFill>
          <a:ln w="12700">
            <a:solidFill>
              <a:srgbClr val="1A4E8F"/>
            </a:solidFill>
            <a:prstDash val="solid"/>
          </a:ln>
        </p:spPr>
      </p:sp>
      <p:sp>
        <p:nvSpPr>
          <p:cNvPr id="4" name="Shape 2"/>
          <p:cNvSpPr/>
          <p:nvPr/>
        </p:nvSpPr>
        <p:spPr>
          <a:xfrm>
            <a:off x="0" y="0"/>
            <a:ext cx="64008" cy="5143500"/>
          </a:xfrm>
          <a:prstGeom prst="rect">
            <a:avLst/>
          </a:prstGeom>
          <a:solidFill>
            <a:srgbClr val="E8690E"/>
          </a:solidFill>
          <a:ln w="12700">
            <a:solidFill>
              <a:srgbClr val="E8690E"/>
            </a:solidFill>
            <a:prstDash val="solid"/>
          </a:ln>
        </p:spPr>
      </p:sp>
      <p:sp>
        <p:nvSpPr>
          <p:cNvPr id="5" name="Shape 3"/>
          <p:cNvSpPr/>
          <p:nvPr/>
        </p:nvSpPr>
        <p:spPr>
          <a:xfrm>
            <a:off x="457200" y="3154680"/>
            <a:ext cx="5212080" cy="22860"/>
          </a:xfrm>
          <a:prstGeom prst="rect">
            <a:avLst/>
          </a:prstGeom>
          <a:solidFill>
            <a:srgbClr val="E8690E"/>
          </a:solidFill>
          <a:ln w="12700">
            <a:solidFill>
              <a:srgbClr val="E8690E"/>
            </a:solidFill>
            <a:prstDash val="solid"/>
          </a:ln>
        </p:spPr>
      </p:sp>
      <p:pic>
        <p:nvPicPr>
          <p:cNvPr id="6" name="Image 0" descr="/home/claude/komoe_logo.jpg"/>
          <p:cNvPicPr>
            <a:picLocks noChangeAspect="1"/>
          </p:cNvPicPr>
          <p:nvPr/>
        </p:nvPicPr>
        <p:blipFill>
          <a:blip r:embed="rId1">
            <a:alphaModFix amt="92000"/>
          </a:blip>
          <a:stretch>
            <a:fillRect/>
          </a:stretch>
        </p:blipFill>
        <p:spPr>
          <a:xfrm>
            <a:off x="6400800" y="365760"/>
            <a:ext cx="2377440" cy="2377440"/>
          </a:xfrm>
          <a:prstGeom prst="rect">
            <a:avLst/>
          </a:prstGeom>
        </p:spPr>
      </p:pic>
      <p:sp>
        <p:nvSpPr>
          <p:cNvPr id="7" name="Text 4"/>
          <p:cNvSpPr/>
          <p:nvPr/>
        </p:nvSpPr>
        <p:spPr>
          <a:xfrm>
            <a:off x="457200" y="411480"/>
            <a:ext cx="5486400" cy="274320"/>
          </a:xfrm>
          <a:prstGeom prst="rect">
            <a:avLst/>
          </a:prstGeom>
          <a:noFill/>
          <a:ln/>
        </p:spPr>
        <p:txBody>
          <a:bodyPr wrap="square" lIns="0" tIns="0" rIns="0" bIns="0" rtlCol="0" anchor="ctr"/>
          <a:lstStyle/>
          <a:p>
            <a:pPr indent="0" marL="0">
              <a:buNone/>
            </a:pPr>
            <a:r>
              <a:rPr lang="en-US" sz="900" b="1" spc="200" kern="0" dirty="0">
                <a:solidFill>
                  <a:srgbClr val="E8690E"/>
                </a:solidFill>
                <a:latin typeface="Calibri" pitchFamily="34" charset="0"/>
                <a:ea typeface="Calibri" pitchFamily="34" charset="-122"/>
                <a:cs typeface="Calibri" pitchFamily="34" charset="-120"/>
              </a:rPr>
              <a:t>MIABE HACKATHON 2026  ·  PROJET CI-01  ·  D08</a:t>
            </a:r>
            <a:endParaRPr lang="en-US" sz="900" dirty="0"/>
          </a:p>
        </p:txBody>
      </p:sp>
      <p:sp>
        <p:nvSpPr>
          <p:cNvPr id="8" name="Text 5"/>
          <p:cNvSpPr/>
          <p:nvPr/>
        </p:nvSpPr>
        <p:spPr>
          <a:xfrm>
            <a:off x="457200" y="777240"/>
            <a:ext cx="5943600" cy="164592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Calibri" pitchFamily="34" charset="0"/>
                <a:ea typeface="Calibri" pitchFamily="34" charset="-122"/>
                <a:cs typeface="Calibri" pitchFamily="34" charset="-120"/>
              </a:rPr>
              <a:t>La Blockchain au service</a:t>
            </a:r>
            <a:endParaRPr lang="en-US" sz="3000" dirty="0"/>
          </a:p>
          <a:p>
            <a:pPr indent="0" marL="0">
              <a:lnSpc>
                <a:spcPct val="115000"/>
              </a:lnSpc>
              <a:buNone/>
            </a:pPr>
            <a:r>
              <a:rPr lang="en-US" sz="3000" b="1" dirty="0">
                <a:solidFill>
                  <a:srgbClr val="FFFFFF"/>
                </a:solidFill>
                <a:latin typeface="Calibri" pitchFamily="34" charset="0"/>
                <a:ea typeface="Calibri" pitchFamily="34" charset="-122"/>
                <a:cs typeface="Calibri" pitchFamily="34" charset="-120"/>
              </a:rPr>
              <a:t>de la transparence budgétaire</a:t>
            </a:r>
            <a:endParaRPr lang="en-US" sz="3000" dirty="0"/>
          </a:p>
        </p:txBody>
      </p:sp>
      <p:sp>
        <p:nvSpPr>
          <p:cNvPr id="9" name="Text 6"/>
          <p:cNvSpPr/>
          <p:nvPr/>
        </p:nvSpPr>
        <p:spPr>
          <a:xfrm>
            <a:off x="457200" y="2514600"/>
            <a:ext cx="5669280" cy="594360"/>
          </a:xfrm>
          <a:prstGeom prst="rect">
            <a:avLst/>
          </a:prstGeom>
          <a:noFill/>
          <a:ln/>
        </p:spPr>
        <p:txBody>
          <a:bodyPr wrap="square" lIns="0" tIns="0" rIns="0" bIns="0" rtlCol="0" anchor="ctr"/>
          <a:lstStyle/>
          <a:p>
            <a:pPr indent="0" marL="0">
              <a:lnSpc>
                <a:spcPct val="130000"/>
              </a:lnSpc>
              <a:buNone/>
            </a:pPr>
            <a:r>
              <a:rPr lang="en-US" sz="1300" dirty="0">
                <a:solidFill>
                  <a:srgbClr val="EBF3FC"/>
                </a:solidFill>
                <a:latin typeface="Calibri" pitchFamily="34" charset="0"/>
                <a:ea typeface="Calibri" pitchFamily="34" charset="-122"/>
                <a:cs typeface="Calibri" pitchFamily="34" charset="-120"/>
              </a:rPr>
              <a:t>Comment KOMOE rend chaque franc communal immuable,</a:t>
            </a:r>
            <a:endParaRPr lang="en-US" sz="1300" dirty="0"/>
          </a:p>
          <a:p>
            <a:pPr indent="0" marL="0">
              <a:lnSpc>
                <a:spcPct val="130000"/>
              </a:lnSpc>
              <a:buNone/>
            </a:pPr>
            <a:r>
              <a:rPr lang="en-US" sz="1300" dirty="0">
                <a:solidFill>
                  <a:srgbClr val="EBF3FC"/>
                </a:solidFill>
                <a:latin typeface="Calibri" pitchFamily="34" charset="0"/>
                <a:ea typeface="Calibri" pitchFamily="34" charset="-122"/>
                <a:cs typeface="Calibri" pitchFamily="34" charset="-120"/>
              </a:rPr>
              <a:t>public et vérifiable — en temps réel.</a:t>
            </a:r>
            <a:endParaRPr lang="en-US" sz="1300" dirty="0"/>
          </a:p>
        </p:txBody>
      </p:sp>
      <p:sp>
        <p:nvSpPr>
          <p:cNvPr id="10" name="Shape 7"/>
          <p:cNvSpPr/>
          <p:nvPr/>
        </p:nvSpPr>
        <p:spPr>
          <a:xfrm>
            <a:off x="457200" y="3246120"/>
            <a:ext cx="1417320" cy="256032"/>
          </a:xfrm>
          <a:prstGeom prst="roundRect">
            <a:avLst>
              <a:gd name="adj" fmla="val 14286"/>
            </a:avLst>
          </a:prstGeom>
          <a:solidFill>
            <a:srgbClr val="1A4E8F"/>
          </a:solidFill>
          <a:ln w="12700">
            <a:solidFill>
              <a:srgbClr val="2E6BC4"/>
            </a:solidFill>
            <a:prstDash val="solid"/>
          </a:ln>
        </p:spPr>
      </p:sp>
      <p:sp>
        <p:nvSpPr>
          <p:cNvPr id="11" name="Text 8"/>
          <p:cNvSpPr/>
          <p:nvPr/>
        </p:nvSpPr>
        <p:spPr>
          <a:xfrm>
            <a:off x="457200" y="3246120"/>
            <a:ext cx="141732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Ethereum</a:t>
            </a:r>
            <a:endParaRPr lang="en-US" sz="850" dirty="0"/>
          </a:p>
        </p:txBody>
      </p:sp>
      <p:sp>
        <p:nvSpPr>
          <p:cNvPr id="12" name="Shape 9"/>
          <p:cNvSpPr/>
          <p:nvPr/>
        </p:nvSpPr>
        <p:spPr>
          <a:xfrm>
            <a:off x="2011680" y="3246120"/>
            <a:ext cx="1417320" cy="256032"/>
          </a:xfrm>
          <a:prstGeom prst="roundRect">
            <a:avLst>
              <a:gd name="adj" fmla="val 14286"/>
            </a:avLst>
          </a:prstGeom>
          <a:solidFill>
            <a:srgbClr val="1A4E8F"/>
          </a:solidFill>
          <a:ln w="12700">
            <a:solidFill>
              <a:srgbClr val="2E6BC4"/>
            </a:solidFill>
            <a:prstDash val="solid"/>
          </a:ln>
        </p:spPr>
      </p:sp>
      <p:sp>
        <p:nvSpPr>
          <p:cNvPr id="13" name="Text 10"/>
          <p:cNvSpPr/>
          <p:nvPr/>
        </p:nvSpPr>
        <p:spPr>
          <a:xfrm>
            <a:off x="2011680" y="3246120"/>
            <a:ext cx="141732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Smart Contract</a:t>
            </a:r>
            <a:endParaRPr lang="en-US" sz="850" dirty="0"/>
          </a:p>
        </p:txBody>
      </p:sp>
      <p:sp>
        <p:nvSpPr>
          <p:cNvPr id="14" name="Shape 11"/>
          <p:cNvSpPr/>
          <p:nvPr/>
        </p:nvSpPr>
        <p:spPr>
          <a:xfrm>
            <a:off x="3566160" y="3246120"/>
            <a:ext cx="1417320" cy="256032"/>
          </a:xfrm>
          <a:prstGeom prst="roundRect">
            <a:avLst>
              <a:gd name="adj" fmla="val 14286"/>
            </a:avLst>
          </a:prstGeom>
          <a:solidFill>
            <a:srgbClr val="1A4E8F"/>
          </a:solidFill>
          <a:ln w="12700">
            <a:solidFill>
              <a:srgbClr val="2E6BC4"/>
            </a:solidFill>
            <a:prstDash val="solid"/>
          </a:ln>
        </p:spPr>
      </p:sp>
      <p:sp>
        <p:nvSpPr>
          <p:cNvPr id="15" name="Text 12"/>
          <p:cNvSpPr/>
          <p:nvPr/>
        </p:nvSpPr>
        <p:spPr>
          <a:xfrm>
            <a:off x="3566160" y="3246120"/>
            <a:ext cx="141732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Immuabilité</a:t>
            </a:r>
            <a:endParaRPr lang="en-US" sz="850" dirty="0"/>
          </a:p>
        </p:txBody>
      </p:sp>
      <p:sp>
        <p:nvSpPr>
          <p:cNvPr id="16" name="Text 13"/>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KOMOE · Transparence Budgétaire</a:t>
            </a:r>
            <a:endParaRPr lang="en-US" sz="900" dirty="0"/>
          </a:p>
        </p:txBody>
      </p:sp>
      <p:sp>
        <p:nvSpPr>
          <p:cNvPr id="17" name="Text 14"/>
          <p:cNvSpPr/>
          <p:nvPr/>
        </p:nvSpPr>
        <p:spPr>
          <a:xfrm>
            <a:off x="850392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 problème : pourquoi un tableau Excel ne suffit pas</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L'opacité n'est pas une question de volonté — c'est une question de système</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2 / 10</a:t>
            </a:r>
            <a:endParaRPr lang="en-US" sz="750" dirty="0"/>
          </a:p>
        </p:txBody>
      </p:sp>
      <p:sp>
        <p:nvSpPr>
          <p:cNvPr id="10" name="Shape 7"/>
          <p:cNvSpPr/>
          <p:nvPr/>
        </p:nvSpPr>
        <p:spPr>
          <a:xfrm>
            <a:off x="274320" y="868680"/>
            <a:ext cx="3931920" cy="384048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274320" y="868680"/>
            <a:ext cx="3931920" cy="320040"/>
          </a:xfrm>
          <a:prstGeom prst="rect">
            <a:avLst/>
          </a:prstGeom>
          <a:solidFill>
            <a:srgbClr val="C0392B"/>
          </a:solidFill>
          <a:ln w="12700">
            <a:solidFill>
              <a:srgbClr val="C0392B"/>
            </a:solidFill>
            <a:prstDash val="solid"/>
          </a:ln>
        </p:spPr>
      </p:sp>
      <p:sp>
        <p:nvSpPr>
          <p:cNvPr id="12" name="Text 9"/>
          <p:cNvSpPr/>
          <p:nvPr/>
        </p:nvSpPr>
        <p:spPr>
          <a:xfrm>
            <a:off x="320040" y="877824"/>
            <a:ext cx="384048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Excel / PDF publié</a:t>
            </a:r>
            <a:endParaRPr lang="en-US" sz="1100" dirty="0"/>
          </a:p>
        </p:txBody>
      </p:sp>
      <p:sp>
        <p:nvSpPr>
          <p:cNvPr id="13" name="Shape 10"/>
          <p:cNvSpPr/>
          <p:nvPr/>
        </p:nvSpPr>
        <p:spPr>
          <a:xfrm>
            <a:off x="384048" y="1298448"/>
            <a:ext cx="201168" cy="201168"/>
          </a:xfrm>
          <a:prstGeom prst="ellipse">
            <a:avLst/>
          </a:prstGeom>
          <a:solidFill>
            <a:srgbClr val="C0392B"/>
          </a:solidFill>
          <a:ln w="12700">
            <a:solidFill>
              <a:srgbClr val="C0392B"/>
            </a:solidFill>
            <a:prstDash val="solid"/>
          </a:ln>
        </p:spPr>
      </p:sp>
      <p:sp>
        <p:nvSpPr>
          <p:cNvPr id="14" name="Text 11"/>
          <p:cNvSpPr/>
          <p:nvPr/>
        </p:nvSpPr>
        <p:spPr>
          <a:xfrm>
            <a:off x="384048" y="12893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5" name="Text 12"/>
          <p:cNvSpPr/>
          <p:nvPr/>
        </p:nvSpPr>
        <p:spPr>
          <a:xfrm>
            <a:off x="640080" y="12801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Modifiable à volonté</a:t>
            </a:r>
            <a:endParaRPr lang="en-US" sz="1000" dirty="0"/>
          </a:p>
        </p:txBody>
      </p:sp>
      <p:sp>
        <p:nvSpPr>
          <p:cNvPr id="16" name="Text 13"/>
          <p:cNvSpPr/>
          <p:nvPr/>
        </p:nvSpPr>
        <p:spPr>
          <a:xfrm>
            <a:off x="640080" y="14813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N'importe quel agent peut changer</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un chiffre sans trace.</a:t>
            </a:r>
            <a:endParaRPr lang="en-US" sz="850" dirty="0"/>
          </a:p>
        </p:txBody>
      </p:sp>
      <p:sp>
        <p:nvSpPr>
          <p:cNvPr id="17" name="Shape 14"/>
          <p:cNvSpPr/>
          <p:nvPr/>
        </p:nvSpPr>
        <p:spPr>
          <a:xfrm>
            <a:off x="384048" y="1984248"/>
            <a:ext cx="201168" cy="201168"/>
          </a:xfrm>
          <a:prstGeom prst="ellipse">
            <a:avLst/>
          </a:prstGeom>
          <a:solidFill>
            <a:srgbClr val="C0392B"/>
          </a:solidFill>
          <a:ln w="12700">
            <a:solidFill>
              <a:srgbClr val="C0392B"/>
            </a:solidFill>
            <a:prstDash val="solid"/>
          </a:ln>
        </p:spPr>
      </p:sp>
      <p:sp>
        <p:nvSpPr>
          <p:cNvPr id="18" name="Text 15"/>
          <p:cNvSpPr/>
          <p:nvPr/>
        </p:nvSpPr>
        <p:spPr>
          <a:xfrm>
            <a:off x="384048" y="19751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9" name="Text 16"/>
          <p:cNvSpPr/>
          <p:nvPr/>
        </p:nvSpPr>
        <p:spPr>
          <a:xfrm>
            <a:off x="640080" y="19659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Pas de preuve d'origine</a:t>
            </a:r>
            <a:endParaRPr lang="en-US" sz="1000" dirty="0"/>
          </a:p>
        </p:txBody>
      </p:sp>
      <p:sp>
        <p:nvSpPr>
          <p:cNvPr id="20" name="Text 17"/>
          <p:cNvSpPr/>
          <p:nvPr/>
        </p:nvSpPr>
        <p:spPr>
          <a:xfrm>
            <a:off x="640080" y="21671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Qui a créé le fichier ?</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Quand ? Impossible à prouver.</a:t>
            </a:r>
            <a:endParaRPr lang="en-US" sz="850" dirty="0"/>
          </a:p>
        </p:txBody>
      </p:sp>
      <p:sp>
        <p:nvSpPr>
          <p:cNvPr id="21" name="Shape 18"/>
          <p:cNvSpPr/>
          <p:nvPr/>
        </p:nvSpPr>
        <p:spPr>
          <a:xfrm>
            <a:off x="384048" y="2670048"/>
            <a:ext cx="201168" cy="201168"/>
          </a:xfrm>
          <a:prstGeom prst="ellipse">
            <a:avLst/>
          </a:prstGeom>
          <a:solidFill>
            <a:srgbClr val="C0392B"/>
          </a:solidFill>
          <a:ln w="12700">
            <a:solidFill>
              <a:srgbClr val="C0392B"/>
            </a:solidFill>
            <a:prstDash val="solid"/>
          </a:ln>
        </p:spPr>
      </p:sp>
      <p:sp>
        <p:nvSpPr>
          <p:cNvPr id="22" name="Text 19"/>
          <p:cNvSpPr/>
          <p:nvPr/>
        </p:nvSpPr>
        <p:spPr>
          <a:xfrm>
            <a:off x="384048" y="26609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3" name="Text 20"/>
          <p:cNvSpPr/>
          <p:nvPr/>
        </p:nvSpPr>
        <p:spPr>
          <a:xfrm>
            <a:off x="640080" y="26517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Supprimable</a:t>
            </a:r>
            <a:endParaRPr lang="en-US" sz="1000" dirty="0"/>
          </a:p>
        </p:txBody>
      </p:sp>
      <p:sp>
        <p:nvSpPr>
          <p:cNvPr id="24" name="Text 21"/>
          <p:cNvSpPr/>
          <p:nvPr/>
        </p:nvSpPr>
        <p:spPr>
          <a:xfrm>
            <a:off x="640080" y="28529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Le fichier peut disparaître</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du serveur communal.</a:t>
            </a:r>
            <a:endParaRPr lang="en-US" sz="850" dirty="0"/>
          </a:p>
        </p:txBody>
      </p:sp>
      <p:sp>
        <p:nvSpPr>
          <p:cNvPr id="25" name="Shape 22"/>
          <p:cNvSpPr/>
          <p:nvPr/>
        </p:nvSpPr>
        <p:spPr>
          <a:xfrm>
            <a:off x="384048" y="3355848"/>
            <a:ext cx="201168" cy="201168"/>
          </a:xfrm>
          <a:prstGeom prst="ellipse">
            <a:avLst/>
          </a:prstGeom>
          <a:solidFill>
            <a:srgbClr val="C0392B"/>
          </a:solidFill>
          <a:ln w="12700">
            <a:solidFill>
              <a:srgbClr val="C0392B"/>
            </a:solidFill>
            <a:prstDash val="solid"/>
          </a:ln>
        </p:spPr>
      </p:sp>
      <p:sp>
        <p:nvSpPr>
          <p:cNvPr id="26" name="Text 23"/>
          <p:cNvSpPr/>
          <p:nvPr/>
        </p:nvSpPr>
        <p:spPr>
          <a:xfrm>
            <a:off x="384048" y="33467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7" name="Text 24"/>
          <p:cNvSpPr/>
          <p:nvPr/>
        </p:nvSpPr>
        <p:spPr>
          <a:xfrm>
            <a:off x="640080" y="33375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Mise à jour manuelle</a:t>
            </a:r>
            <a:endParaRPr lang="en-US" sz="1000" dirty="0"/>
          </a:p>
        </p:txBody>
      </p:sp>
      <p:sp>
        <p:nvSpPr>
          <p:cNvPr id="28" name="Text 25"/>
          <p:cNvSpPr/>
          <p:nvPr/>
        </p:nvSpPr>
        <p:spPr>
          <a:xfrm>
            <a:off x="640080" y="35387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Délai de 18 à 24 mois</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avant publication réelle.</a:t>
            </a:r>
            <a:endParaRPr lang="en-US" sz="850" dirty="0"/>
          </a:p>
        </p:txBody>
      </p:sp>
      <p:sp>
        <p:nvSpPr>
          <p:cNvPr id="29" name="Shape 26"/>
          <p:cNvSpPr/>
          <p:nvPr/>
        </p:nvSpPr>
        <p:spPr>
          <a:xfrm>
            <a:off x="384048" y="4041648"/>
            <a:ext cx="201168" cy="201168"/>
          </a:xfrm>
          <a:prstGeom prst="ellipse">
            <a:avLst/>
          </a:prstGeom>
          <a:solidFill>
            <a:srgbClr val="C0392B"/>
          </a:solidFill>
          <a:ln w="12700">
            <a:solidFill>
              <a:srgbClr val="C0392B"/>
            </a:solidFill>
            <a:prstDash val="solid"/>
          </a:ln>
        </p:spPr>
      </p:sp>
      <p:sp>
        <p:nvSpPr>
          <p:cNvPr id="30" name="Text 27"/>
          <p:cNvSpPr/>
          <p:nvPr/>
        </p:nvSpPr>
        <p:spPr>
          <a:xfrm>
            <a:off x="384048" y="40325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1" name="Text 28"/>
          <p:cNvSpPr/>
          <p:nvPr/>
        </p:nvSpPr>
        <p:spPr>
          <a:xfrm>
            <a:off x="640080" y="40233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Inaccessible aux citoyens</a:t>
            </a:r>
            <a:endParaRPr lang="en-US" sz="1000" dirty="0"/>
          </a:p>
        </p:txBody>
      </p:sp>
      <p:sp>
        <p:nvSpPr>
          <p:cNvPr id="32" name="Text 29"/>
          <p:cNvSpPr/>
          <p:nvPr/>
        </p:nvSpPr>
        <p:spPr>
          <a:xfrm>
            <a:off x="640080" y="42245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Moins de 3 % des Ivoiriens</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accèdent à ces données.</a:t>
            </a:r>
            <a:endParaRPr lang="en-US" sz="850" dirty="0"/>
          </a:p>
        </p:txBody>
      </p:sp>
      <p:sp>
        <p:nvSpPr>
          <p:cNvPr id="33" name="Shape 30"/>
          <p:cNvSpPr/>
          <p:nvPr/>
        </p:nvSpPr>
        <p:spPr>
          <a:xfrm>
            <a:off x="4937760" y="868680"/>
            <a:ext cx="3931920" cy="384048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34" name="Shape 31"/>
          <p:cNvSpPr/>
          <p:nvPr/>
        </p:nvSpPr>
        <p:spPr>
          <a:xfrm>
            <a:off x="4937760" y="868680"/>
            <a:ext cx="3931920" cy="320040"/>
          </a:xfrm>
          <a:prstGeom prst="rect">
            <a:avLst/>
          </a:prstGeom>
          <a:solidFill>
            <a:srgbClr val="1A5C38"/>
          </a:solidFill>
          <a:ln w="12700">
            <a:solidFill>
              <a:srgbClr val="1A5C38"/>
            </a:solidFill>
            <a:prstDash val="solid"/>
          </a:ln>
        </p:spPr>
      </p:sp>
      <p:sp>
        <p:nvSpPr>
          <p:cNvPr id="35" name="Text 32"/>
          <p:cNvSpPr/>
          <p:nvPr/>
        </p:nvSpPr>
        <p:spPr>
          <a:xfrm>
            <a:off x="4983480" y="877824"/>
            <a:ext cx="384048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KOMOE sur Ethereum</a:t>
            </a:r>
            <a:endParaRPr lang="en-US" sz="1100" dirty="0"/>
          </a:p>
        </p:txBody>
      </p:sp>
      <p:sp>
        <p:nvSpPr>
          <p:cNvPr id="36" name="Shape 33"/>
          <p:cNvSpPr/>
          <p:nvPr/>
        </p:nvSpPr>
        <p:spPr>
          <a:xfrm>
            <a:off x="5047488" y="1298448"/>
            <a:ext cx="201168" cy="201168"/>
          </a:xfrm>
          <a:prstGeom prst="ellipse">
            <a:avLst/>
          </a:prstGeom>
          <a:solidFill>
            <a:srgbClr val="1A5C38"/>
          </a:solidFill>
          <a:ln w="12700">
            <a:solidFill>
              <a:srgbClr val="1A5C38"/>
            </a:solidFill>
            <a:prstDash val="solid"/>
          </a:ln>
        </p:spPr>
      </p:sp>
      <p:sp>
        <p:nvSpPr>
          <p:cNvPr id="37" name="Text 34"/>
          <p:cNvSpPr/>
          <p:nvPr/>
        </p:nvSpPr>
        <p:spPr>
          <a:xfrm>
            <a:off x="5047488" y="12893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8" name="Text 35"/>
          <p:cNvSpPr/>
          <p:nvPr/>
        </p:nvSpPr>
        <p:spPr>
          <a:xfrm>
            <a:off x="5303520" y="12801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Immuable cryptographiquement</a:t>
            </a:r>
            <a:endParaRPr lang="en-US" sz="1000" dirty="0"/>
          </a:p>
        </p:txBody>
      </p:sp>
      <p:sp>
        <p:nvSpPr>
          <p:cNvPr id="39" name="Text 36"/>
          <p:cNvSpPr/>
          <p:nvPr/>
        </p:nvSpPr>
        <p:spPr>
          <a:xfrm>
            <a:off x="5303520" y="14813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Une fois confirmé, aucun acteur</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ne peut modifier l'enregistrement.</a:t>
            </a:r>
            <a:endParaRPr lang="en-US" sz="850" dirty="0"/>
          </a:p>
        </p:txBody>
      </p:sp>
      <p:sp>
        <p:nvSpPr>
          <p:cNvPr id="40" name="Shape 37"/>
          <p:cNvSpPr/>
          <p:nvPr/>
        </p:nvSpPr>
        <p:spPr>
          <a:xfrm>
            <a:off x="5047488" y="1984248"/>
            <a:ext cx="201168" cy="201168"/>
          </a:xfrm>
          <a:prstGeom prst="ellipse">
            <a:avLst/>
          </a:prstGeom>
          <a:solidFill>
            <a:srgbClr val="1A5C38"/>
          </a:solidFill>
          <a:ln w="12700">
            <a:solidFill>
              <a:srgbClr val="1A5C38"/>
            </a:solidFill>
            <a:prstDash val="solid"/>
          </a:ln>
        </p:spPr>
      </p:sp>
      <p:sp>
        <p:nvSpPr>
          <p:cNvPr id="41" name="Text 38"/>
          <p:cNvSpPr/>
          <p:nvPr/>
        </p:nvSpPr>
        <p:spPr>
          <a:xfrm>
            <a:off x="5047488" y="19751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2" name="Text 39"/>
          <p:cNvSpPr/>
          <p:nvPr/>
        </p:nvSpPr>
        <p:spPr>
          <a:xfrm>
            <a:off x="5303520" y="19659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Preuve d'origine garantie</a:t>
            </a:r>
            <a:endParaRPr lang="en-US" sz="1000" dirty="0"/>
          </a:p>
        </p:txBody>
      </p:sp>
      <p:sp>
        <p:nvSpPr>
          <p:cNvPr id="43" name="Text 40"/>
          <p:cNvSpPr/>
          <p:nvPr/>
        </p:nvSpPr>
        <p:spPr>
          <a:xfrm>
            <a:off x="5303520" y="21671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Signature numérique du responsable.</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Identité vérifiable par tous.</a:t>
            </a:r>
            <a:endParaRPr lang="en-US" sz="850" dirty="0"/>
          </a:p>
        </p:txBody>
      </p:sp>
      <p:sp>
        <p:nvSpPr>
          <p:cNvPr id="44" name="Shape 41"/>
          <p:cNvSpPr/>
          <p:nvPr/>
        </p:nvSpPr>
        <p:spPr>
          <a:xfrm>
            <a:off x="5047488" y="2670048"/>
            <a:ext cx="201168" cy="201168"/>
          </a:xfrm>
          <a:prstGeom prst="ellipse">
            <a:avLst/>
          </a:prstGeom>
          <a:solidFill>
            <a:srgbClr val="1A5C38"/>
          </a:solidFill>
          <a:ln w="12700">
            <a:solidFill>
              <a:srgbClr val="1A5C38"/>
            </a:solidFill>
            <a:prstDash val="solid"/>
          </a:ln>
        </p:spPr>
      </p:sp>
      <p:sp>
        <p:nvSpPr>
          <p:cNvPr id="45" name="Text 42"/>
          <p:cNvSpPr/>
          <p:nvPr/>
        </p:nvSpPr>
        <p:spPr>
          <a:xfrm>
            <a:off x="5047488" y="26609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6" name="Text 43"/>
          <p:cNvSpPr/>
          <p:nvPr/>
        </p:nvSpPr>
        <p:spPr>
          <a:xfrm>
            <a:off x="5303520" y="26517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Indestructible</a:t>
            </a:r>
            <a:endParaRPr lang="en-US" sz="1000" dirty="0"/>
          </a:p>
        </p:txBody>
      </p:sp>
      <p:sp>
        <p:nvSpPr>
          <p:cNvPr id="47" name="Text 44"/>
          <p:cNvSpPr/>
          <p:nvPr/>
        </p:nvSpPr>
        <p:spPr>
          <a:xfrm>
            <a:off x="5303520" y="28529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Données sur des milliers de nœuds</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dans le monde. Aucun point de défaillance.</a:t>
            </a:r>
            <a:endParaRPr lang="en-US" sz="850" dirty="0"/>
          </a:p>
        </p:txBody>
      </p:sp>
      <p:sp>
        <p:nvSpPr>
          <p:cNvPr id="48" name="Shape 45"/>
          <p:cNvSpPr/>
          <p:nvPr/>
        </p:nvSpPr>
        <p:spPr>
          <a:xfrm>
            <a:off x="5047488" y="3355848"/>
            <a:ext cx="201168" cy="201168"/>
          </a:xfrm>
          <a:prstGeom prst="ellipse">
            <a:avLst/>
          </a:prstGeom>
          <a:solidFill>
            <a:srgbClr val="1A5C38"/>
          </a:solidFill>
          <a:ln w="12700">
            <a:solidFill>
              <a:srgbClr val="1A5C38"/>
            </a:solidFill>
            <a:prstDash val="solid"/>
          </a:ln>
        </p:spPr>
      </p:sp>
      <p:sp>
        <p:nvSpPr>
          <p:cNvPr id="49" name="Text 46"/>
          <p:cNvSpPr/>
          <p:nvPr/>
        </p:nvSpPr>
        <p:spPr>
          <a:xfrm>
            <a:off x="5047488" y="33467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0" name="Text 47"/>
          <p:cNvSpPr/>
          <p:nvPr/>
        </p:nvSpPr>
        <p:spPr>
          <a:xfrm>
            <a:off x="5303520" y="33375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Temps réel (&lt; 30 secondes)</a:t>
            </a:r>
            <a:endParaRPr lang="en-US" sz="1000" dirty="0"/>
          </a:p>
        </p:txBody>
      </p:sp>
      <p:sp>
        <p:nvSpPr>
          <p:cNvPr id="51" name="Text 48"/>
          <p:cNvSpPr/>
          <p:nvPr/>
        </p:nvSpPr>
        <p:spPr>
          <a:xfrm>
            <a:off x="5303520" y="35387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La dépense est visible publiquement</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dès confirmation blockchain.</a:t>
            </a:r>
            <a:endParaRPr lang="en-US" sz="850" dirty="0"/>
          </a:p>
        </p:txBody>
      </p:sp>
      <p:sp>
        <p:nvSpPr>
          <p:cNvPr id="52" name="Shape 49"/>
          <p:cNvSpPr/>
          <p:nvPr/>
        </p:nvSpPr>
        <p:spPr>
          <a:xfrm>
            <a:off x="5047488" y="4041648"/>
            <a:ext cx="201168" cy="201168"/>
          </a:xfrm>
          <a:prstGeom prst="ellipse">
            <a:avLst/>
          </a:prstGeom>
          <a:solidFill>
            <a:srgbClr val="1A5C38"/>
          </a:solidFill>
          <a:ln w="12700">
            <a:solidFill>
              <a:srgbClr val="1A5C38"/>
            </a:solidFill>
            <a:prstDash val="solid"/>
          </a:ln>
        </p:spPr>
      </p:sp>
      <p:sp>
        <p:nvSpPr>
          <p:cNvPr id="53" name="Text 50"/>
          <p:cNvSpPr/>
          <p:nvPr/>
        </p:nvSpPr>
        <p:spPr>
          <a:xfrm>
            <a:off x="5047488" y="4032504"/>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4" name="Text 51"/>
          <p:cNvSpPr/>
          <p:nvPr/>
        </p:nvSpPr>
        <p:spPr>
          <a:xfrm>
            <a:off x="5303520" y="4023360"/>
            <a:ext cx="3383280" cy="201168"/>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Accessible sans intermédiaire</a:t>
            </a:r>
            <a:endParaRPr lang="en-US" sz="1000" dirty="0"/>
          </a:p>
        </p:txBody>
      </p:sp>
      <p:sp>
        <p:nvSpPr>
          <p:cNvPr id="55" name="Text 52"/>
          <p:cNvSpPr/>
          <p:nvPr/>
        </p:nvSpPr>
        <p:spPr>
          <a:xfrm>
            <a:off x="5303520" y="4224528"/>
            <a:ext cx="3383280" cy="347472"/>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N'importe quel citoyen vérifie</a:t>
            </a:r>
            <a:endParaRPr lang="en-US" sz="850" dirty="0"/>
          </a:p>
          <a:p>
            <a:pPr indent="0" marL="0">
              <a:buNone/>
            </a:pPr>
            <a:r>
              <a:rPr lang="en-US" sz="850" dirty="0">
                <a:solidFill>
                  <a:srgbClr val="6B7280"/>
                </a:solidFill>
                <a:latin typeface="Calibri" pitchFamily="34" charset="0"/>
                <a:ea typeface="Calibri" pitchFamily="34" charset="-122"/>
                <a:cs typeface="Calibri" pitchFamily="34" charset="-120"/>
              </a:rPr>
              <a:t>depuis son smartphone.</a:t>
            </a:r>
            <a:endParaRPr lang="en-US" sz="850" dirty="0"/>
          </a:p>
        </p:txBody>
      </p:sp>
      <p:sp>
        <p:nvSpPr>
          <p:cNvPr id="56" name="Shape 53"/>
          <p:cNvSpPr/>
          <p:nvPr/>
        </p:nvSpPr>
        <p:spPr>
          <a:xfrm>
            <a:off x="4206240" y="2468880"/>
            <a:ext cx="640080" cy="640080"/>
          </a:xfrm>
          <a:prstGeom prst="ellipse">
            <a:avLst/>
          </a:prstGeom>
          <a:solidFill>
            <a:srgbClr val="0B1F3A"/>
          </a:solidFill>
          <a:ln w="12700">
            <a:solidFill>
              <a:srgbClr val="0B1F3A"/>
            </a:solidFill>
            <a:prstDash val="solid"/>
          </a:ln>
          <a:effectLst>
            <a:outerShdw sx="100000" sy="100000" kx="0" ky="0" algn="bl" rotWithShape="0" blurRad="101600" dist="38100" dir="8100000">
              <a:srgbClr val="000000">
                <a:alpha val="12000"/>
              </a:srgbClr>
            </a:outerShdw>
          </a:effectLst>
        </p:spPr>
      </p:sp>
      <p:sp>
        <p:nvSpPr>
          <p:cNvPr id="57" name="Text 54"/>
          <p:cNvSpPr/>
          <p:nvPr/>
        </p:nvSpPr>
        <p:spPr>
          <a:xfrm>
            <a:off x="4206240" y="2468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Qu'est-ce que la blockchain ? L'analogie du cahier de caisse</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Une explication terre-à-terre pour décideurs publics</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3 / 10</a:t>
            </a:r>
            <a:endParaRPr lang="en-US" sz="750" dirty="0"/>
          </a:p>
        </p:txBody>
      </p:sp>
      <p:sp>
        <p:nvSpPr>
          <p:cNvPr id="10" name="Shape 7"/>
          <p:cNvSpPr/>
          <p:nvPr/>
        </p:nvSpPr>
        <p:spPr>
          <a:xfrm>
            <a:off x="274320" y="841248"/>
            <a:ext cx="8595360" cy="1325880"/>
          </a:xfrm>
          <a:prstGeom prst="rect">
            <a:avLst/>
          </a:prstGeom>
          <a:solidFill>
            <a:srgbClr val="1A4E8F"/>
          </a:solidFill>
          <a:ln w="12700">
            <a:solidFill>
              <a:srgbClr val="2E6BC4"/>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457200" y="877824"/>
            <a:ext cx="8229600" cy="256032"/>
          </a:xfrm>
          <a:prstGeom prst="rect">
            <a:avLst/>
          </a:prstGeom>
          <a:noFill/>
          <a:ln/>
        </p:spPr>
        <p:txBody>
          <a:bodyPr wrap="square" lIns="0" tIns="0" rIns="0" bIns="0" rtlCol="0" anchor="ctr"/>
          <a:lstStyle/>
          <a:p>
            <a:pPr indent="0" marL="0">
              <a:buNone/>
            </a:pPr>
            <a:r>
              <a:rPr lang="en-US" sz="1100" b="1" dirty="0">
                <a:solidFill>
                  <a:srgbClr val="E8690E"/>
                </a:solidFill>
                <a:latin typeface="Calibri" pitchFamily="34" charset="0"/>
                <a:ea typeface="Calibri" pitchFamily="34" charset="-122"/>
                <a:cs typeface="Calibri" pitchFamily="34" charset="-120"/>
              </a:rPr>
              <a:t>L'analogie du registre inviolable</a:t>
            </a:r>
            <a:endParaRPr lang="en-US" sz="1100" dirty="0"/>
          </a:p>
        </p:txBody>
      </p:sp>
      <p:sp>
        <p:nvSpPr>
          <p:cNvPr id="12" name="Text 9"/>
          <p:cNvSpPr/>
          <p:nvPr/>
        </p:nvSpPr>
        <p:spPr>
          <a:xfrm>
            <a:off x="457200" y="1152144"/>
            <a:ext cx="8138160" cy="822960"/>
          </a:xfrm>
          <a:prstGeom prst="rect">
            <a:avLst/>
          </a:prstGeom>
          <a:noFill/>
          <a:ln/>
        </p:spPr>
        <p:txBody>
          <a:bodyPr wrap="square" lIns="0" tIns="0" rIns="0" bIns="0" rtlCol="0" anchor="ctr"/>
          <a:lstStyle/>
          <a:p>
            <a:pPr indent="0" marL="0">
              <a:lnSpc>
                <a:spcPct val="135000"/>
              </a:lnSpc>
              <a:buNone/>
            </a:pPr>
            <a:r>
              <a:rPr lang="en-US" sz="1150" dirty="0">
                <a:solidFill>
                  <a:srgbClr val="FFFFFF"/>
                </a:solidFill>
                <a:latin typeface="Calibri" pitchFamily="34" charset="0"/>
                <a:ea typeface="Calibri" pitchFamily="34" charset="-122"/>
                <a:cs typeface="Calibri" pitchFamily="34" charset="-120"/>
              </a:rPr>
              <a:t>Imaginez un cahier de caisse dont chaque ligne contient une empreinte numérique qui dépend mathématiquement de toutes les lignes précédentes. Si quelqu'un efface ou modifie une ligne, toutes les empreintes suivantes deviennent invalides — et cela se voit immédiatement. C'est le principe d'Ethereum, exécuté simultanément par des milliers d'ordinateurs dans le monde.</a:t>
            </a:r>
            <a:endParaRPr lang="en-US" sz="1150" dirty="0"/>
          </a:p>
        </p:txBody>
      </p:sp>
      <p:sp>
        <p:nvSpPr>
          <p:cNvPr id="13" name="Shape 10"/>
          <p:cNvSpPr/>
          <p:nvPr/>
        </p:nvSpPr>
        <p:spPr>
          <a:xfrm>
            <a:off x="274320" y="2304288"/>
            <a:ext cx="2743200" cy="2423160"/>
          </a:xfrm>
          <a:prstGeom prst="rect">
            <a:avLst/>
          </a:prstGeom>
          <a:solidFill>
            <a:srgbClr val="2E6BC4"/>
          </a:solidFill>
          <a:ln w="12700">
            <a:solidFill>
              <a:srgbClr val="2E6BC4"/>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274320" y="2377440"/>
            <a:ext cx="274320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2"/>
          <p:cNvSpPr/>
          <p:nvPr/>
        </p:nvSpPr>
        <p:spPr>
          <a:xfrm>
            <a:off x="274320" y="2852928"/>
            <a:ext cx="2743200" cy="27432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Calibri" pitchFamily="34" charset="0"/>
                <a:ea typeface="Calibri" pitchFamily="34" charset="-122"/>
                <a:cs typeface="Calibri" pitchFamily="34" charset="-120"/>
              </a:rPr>
              <a:t>PERMANENTE</a:t>
            </a:r>
            <a:endParaRPr lang="en-US" sz="1300" dirty="0"/>
          </a:p>
        </p:txBody>
      </p:sp>
      <p:sp>
        <p:nvSpPr>
          <p:cNvPr id="16" name="Shape 13"/>
          <p:cNvSpPr/>
          <p:nvPr/>
        </p:nvSpPr>
        <p:spPr>
          <a:xfrm>
            <a:off x="1280160" y="3145536"/>
            <a:ext cx="731520" cy="27432"/>
          </a:xfrm>
          <a:prstGeom prst="rect">
            <a:avLst/>
          </a:prstGeom>
          <a:solidFill>
            <a:srgbClr val="FFFFFF">
              <a:alpha val="40000"/>
            </a:srgbClr>
          </a:solidFill>
          <a:ln w="12700">
            <a:solidFill>
              <a:srgbClr val="FFFFFF"/>
            </a:solidFill>
            <a:prstDash val="solid"/>
          </a:ln>
        </p:spPr>
      </p:sp>
      <p:sp>
        <p:nvSpPr>
          <p:cNvPr id="17" name="Text 14"/>
          <p:cNvSpPr/>
          <p:nvPr/>
        </p:nvSpPr>
        <p:spPr>
          <a:xfrm>
            <a:off x="384048" y="3218688"/>
            <a:ext cx="2523744" cy="1280160"/>
          </a:xfrm>
          <a:prstGeom prst="rect">
            <a:avLst/>
          </a:prstGeom>
          <a:noFill/>
          <a:ln/>
        </p:spPr>
        <p:txBody>
          <a:bodyPr wrap="square" lIns="0" tIns="0" rIns="0" bIns="0" rtlCol="0" anchor="ctr"/>
          <a:lstStyle/>
          <a:p>
            <a:pPr indent="0" marL="0">
              <a:lnSpc>
                <a:spcPct val="140000"/>
              </a:lnSpc>
              <a:buNone/>
            </a:pPr>
            <a:r>
              <a:rPr lang="en-US" sz="950" dirty="0">
                <a:solidFill>
                  <a:srgbClr val="FFFFFF"/>
                </a:solidFill>
                <a:latin typeface="Calibri" pitchFamily="34" charset="0"/>
                <a:ea typeface="Calibri" pitchFamily="34" charset="-122"/>
                <a:cs typeface="Calibri" pitchFamily="34" charset="-120"/>
              </a:rPr>
              <a:t>Chaque transaction est gravée dans la blockchain pour toujours. Aucun administrateur, aucun maire, aucun serveur ne peut l'effacer.</a:t>
            </a:r>
            <a:endParaRPr lang="en-US" sz="950" dirty="0"/>
          </a:p>
        </p:txBody>
      </p:sp>
      <p:sp>
        <p:nvSpPr>
          <p:cNvPr id="18" name="Shape 15"/>
          <p:cNvSpPr/>
          <p:nvPr/>
        </p:nvSpPr>
        <p:spPr>
          <a:xfrm>
            <a:off x="3154680" y="2304288"/>
            <a:ext cx="2743200" cy="2423160"/>
          </a:xfrm>
          <a:prstGeom prst="rect">
            <a:avLst/>
          </a:prstGeom>
          <a:solidFill>
            <a:srgbClr val="0E7C86"/>
          </a:solidFill>
          <a:ln w="12700">
            <a:solidFill>
              <a:srgbClr val="0E7C86"/>
            </a:solidFill>
            <a:prstDash val="solid"/>
          </a:ln>
          <a:effectLst>
            <a:outerShdw sx="100000" sy="100000" kx="0" ky="0" algn="bl" rotWithShape="0" blurRad="101600" dist="38100" dir="8100000">
              <a:srgbClr val="000000">
                <a:alpha val="12000"/>
              </a:srgbClr>
            </a:outerShdw>
          </a:effectLst>
        </p:spPr>
      </p:sp>
      <p:sp>
        <p:nvSpPr>
          <p:cNvPr id="19" name="Text 16"/>
          <p:cNvSpPr/>
          <p:nvPr/>
        </p:nvSpPr>
        <p:spPr>
          <a:xfrm>
            <a:off x="3154680" y="2377440"/>
            <a:ext cx="274320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0" name="Text 17"/>
          <p:cNvSpPr/>
          <p:nvPr/>
        </p:nvSpPr>
        <p:spPr>
          <a:xfrm>
            <a:off x="3154680" y="2852928"/>
            <a:ext cx="2743200" cy="27432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Calibri" pitchFamily="34" charset="0"/>
                <a:ea typeface="Calibri" pitchFamily="34" charset="-122"/>
                <a:cs typeface="Calibri" pitchFamily="34" charset="-120"/>
              </a:rPr>
              <a:t>PUBLIQUE</a:t>
            </a:r>
            <a:endParaRPr lang="en-US" sz="1300" dirty="0"/>
          </a:p>
        </p:txBody>
      </p:sp>
      <p:sp>
        <p:nvSpPr>
          <p:cNvPr id="21" name="Shape 18"/>
          <p:cNvSpPr/>
          <p:nvPr/>
        </p:nvSpPr>
        <p:spPr>
          <a:xfrm>
            <a:off x="4160520" y="3145536"/>
            <a:ext cx="731520" cy="27432"/>
          </a:xfrm>
          <a:prstGeom prst="rect">
            <a:avLst/>
          </a:prstGeom>
          <a:solidFill>
            <a:srgbClr val="FFFFFF">
              <a:alpha val="40000"/>
            </a:srgbClr>
          </a:solidFill>
          <a:ln w="12700">
            <a:solidFill>
              <a:srgbClr val="FFFFFF"/>
            </a:solidFill>
            <a:prstDash val="solid"/>
          </a:ln>
        </p:spPr>
      </p:sp>
      <p:sp>
        <p:nvSpPr>
          <p:cNvPr id="22" name="Text 19"/>
          <p:cNvSpPr/>
          <p:nvPr/>
        </p:nvSpPr>
        <p:spPr>
          <a:xfrm>
            <a:off x="3264408" y="3218688"/>
            <a:ext cx="2523744" cy="1280160"/>
          </a:xfrm>
          <a:prstGeom prst="rect">
            <a:avLst/>
          </a:prstGeom>
          <a:noFill/>
          <a:ln/>
        </p:spPr>
        <p:txBody>
          <a:bodyPr wrap="square" lIns="0" tIns="0" rIns="0" bIns="0" rtlCol="0" anchor="ctr"/>
          <a:lstStyle/>
          <a:p>
            <a:pPr indent="0" marL="0">
              <a:lnSpc>
                <a:spcPct val="140000"/>
              </a:lnSpc>
              <a:buNone/>
            </a:pPr>
            <a:r>
              <a:rPr lang="en-US" sz="950" dirty="0">
                <a:solidFill>
                  <a:srgbClr val="FFFFFF"/>
                </a:solidFill>
                <a:latin typeface="Calibri" pitchFamily="34" charset="0"/>
                <a:ea typeface="Calibri" pitchFamily="34" charset="-122"/>
                <a:cs typeface="Calibri" pitchFamily="34" charset="-120"/>
              </a:rPr>
              <a:t>N'importe quel citoyen peut consulter n'importe quelle transaction depuis son téléphone, sans inscription, à toute heure.</a:t>
            </a:r>
            <a:endParaRPr lang="en-US" sz="950" dirty="0"/>
          </a:p>
        </p:txBody>
      </p:sp>
      <p:sp>
        <p:nvSpPr>
          <p:cNvPr id="23" name="Shape 20"/>
          <p:cNvSpPr/>
          <p:nvPr/>
        </p:nvSpPr>
        <p:spPr>
          <a:xfrm>
            <a:off x="6035040" y="2304288"/>
            <a:ext cx="2743200" cy="2423160"/>
          </a:xfrm>
          <a:prstGeom prst="rect">
            <a:avLst/>
          </a:prstGeom>
          <a:solidFill>
            <a:srgbClr val="1A5C38"/>
          </a:solidFill>
          <a:ln w="12700">
            <a:solidFill>
              <a:srgbClr val="1A5C38"/>
            </a:solidFill>
            <a:prstDash val="solid"/>
          </a:ln>
          <a:effectLst>
            <a:outerShdw sx="100000" sy="100000" kx="0" ky="0" algn="bl" rotWithShape="0" blurRad="101600" dist="38100" dir="8100000">
              <a:srgbClr val="000000">
                <a:alpha val="12000"/>
              </a:srgbClr>
            </a:outerShdw>
          </a:effectLst>
        </p:spPr>
      </p:sp>
      <p:sp>
        <p:nvSpPr>
          <p:cNvPr id="24" name="Text 21"/>
          <p:cNvSpPr/>
          <p:nvPr/>
        </p:nvSpPr>
        <p:spPr>
          <a:xfrm>
            <a:off x="6035040" y="2377440"/>
            <a:ext cx="2743200" cy="45720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Text 22"/>
          <p:cNvSpPr/>
          <p:nvPr/>
        </p:nvSpPr>
        <p:spPr>
          <a:xfrm>
            <a:off x="6035040" y="2852928"/>
            <a:ext cx="2743200" cy="27432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Calibri" pitchFamily="34" charset="0"/>
                <a:ea typeface="Calibri" pitchFamily="34" charset="-122"/>
                <a:cs typeface="Calibri" pitchFamily="34" charset="-120"/>
              </a:rPr>
              <a:t>VÉRIFIABLE</a:t>
            </a:r>
            <a:endParaRPr lang="en-US" sz="1300" dirty="0"/>
          </a:p>
        </p:txBody>
      </p:sp>
      <p:sp>
        <p:nvSpPr>
          <p:cNvPr id="26" name="Shape 23"/>
          <p:cNvSpPr/>
          <p:nvPr/>
        </p:nvSpPr>
        <p:spPr>
          <a:xfrm>
            <a:off x="7040880" y="3145536"/>
            <a:ext cx="731520" cy="27432"/>
          </a:xfrm>
          <a:prstGeom prst="rect">
            <a:avLst/>
          </a:prstGeom>
          <a:solidFill>
            <a:srgbClr val="FFFFFF">
              <a:alpha val="40000"/>
            </a:srgbClr>
          </a:solidFill>
          <a:ln w="12700">
            <a:solidFill>
              <a:srgbClr val="FFFFFF"/>
            </a:solidFill>
            <a:prstDash val="solid"/>
          </a:ln>
        </p:spPr>
      </p:sp>
      <p:sp>
        <p:nvSpPr>
          <p:cNvPr id="27" name="Text 24"/>
          <p:cNvSpPr/>
          <p:nvPr/>
        </p:nvSpPr>
        <p:spPr>
          <a:xfrm>
            <a:off x="6144768" y="3218688"/>
            <a:ext cx="2523744" cy="1280160"/>
          </a:xfrm>
          <a:prstGeom prst="rect">
            <a:avLst/>
          </a:prstGeom>
          <a:noFill/>
          <a:ln/>
        </p:spPr>
        <p:txBody>
          <a:bodyPr wrap="square" lIns="0" tIns="0" rIns="0" bIns="0" rtlCol="0" anchor="ctr"/>
          <a:lstStyle/>
          <a:p>
            <a:pPr indent="0" marL="0">
              <a:lnSpc>
                <a:spcPct val="140000"/>
              </a:lnSpc>
              <a:buNone/>
            </a:pPr>
            <a:r>
              <a:rPr lang="en-US" sz="950" dirty="0">
                <a:solidFill>
                  <a:srgbClr val="FFFFFF"/>
                </a:solidFill>
                <a:latin typeface="Calibri" pitchFamily="34" charset="0"/>
                <a:ea typeface="Calibri" pitchFamily="34" charset="-122"/>
                <a:cs typeface="Calibri" pitchFamily="34" charset="-120"/>
              </a:rPr>
              <a:t>Chaque enregistrement a un hash unique. Copiez-le sur Etherscan.io pour vérifier indépendamment son authenticité en 3 secondes.</a:t>
            </a:r>
            <a:endParaRPr lang="en-US" sz="950" dirty="0"/>
          </a:p>
        </p:txBody>
      </p:sp>
      <p:sp>
        <p:nvSpPr>
          <p:cNvPr id="28" name="Text 25"/>
          <p:cNvSpPr/>
          <p:nvPr/>
        </p:nvSpPr>
        <p:spPr>
          <a:xfrm>
            <a:off x="274320" y="4736592"/>
            <a:ext cx="8595360" cy="201168"/>
          </a:xfrm>
          <a:prstGeom prst="rect">
            <a:avLst/>
          </a:prstGeom>
          <a:noFill/>
          <a:ln/>
        </p:spPr>
        <p:txBody>
          <a:bodyPr wrap="square" lIns="0" tIns="0" rIns="0" bIns="0" rtlCol="0" anchor="ctr"/>
          <a:lstStyle/>
          <a:p>
            <a:pPr algn="ctr" indent="0" marL="0">
              <a:buNone/>
            </a:pPr>
            <a:r>
              <a:rPr lang="en-US" sz="900" b="1" i="1" dirty="0">
                <a:solidFill>
                  <a:srgbClr val="E8690E"/>
                </a:solidFill>
                <a:latin typeface="Calibri" pitchFamily="34" charset="0"/>
                <a:ea typeface="Calibri" pitchFamily="34" charset="-122"/>
                <a:cs typeface="Calibri" pitchFamily="34" charset="-120"/>
              </a:rPr>
              <a:t>« Personne — pas même le maire — ne peut modifier ou effacer un enregistrement.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L'immuabilité expliquée : le mécanisme Keccak-256</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Pourquoi modifier un seul chiffre change tout — et se voit immédiatement</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4 / 10</a:t>
            </a:r>
            <a:endParaRPr lang="en-US" sz="750" dirty="0"/>
          </a:p>
        </p:txBody>
      </p:sp>
      <p:sp>
        <p:nvSpPr>
          <p:cNvPr id="10" name="Shape 7"/>
          <p:cNvSpPr/>
          <p:nvPr/>
        </p:nvSpPr>
        <p:spPr>
          <a:xfrm>
            <a:off x="274320" y="822960"/>
            <a:ext cx="4572000" cy="393192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411480" y="896112"/>
            <a:ext cx="4297680" cy="27432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La fonction de hachage</a:t>
            </a:r>
            <a:endParaRPr lang="en-US" sz="1200" dirty="0"/>
          </a:p>
        </p:txBody>
      </p:sp>
      <p:sp>
        <p:nvSpPr>
          <p:cNvPr id="12" name="Text 9"/>
          <p:cNvSpPr/>
          <p:nvPr/>
        </p:nvSpPr>
        <p:spPr>
          <a:xfrm>
            <a:off x="411480" y="1207008"/>
            <a:ext cx="4297680" cy="822960"/>
          </a:xfrm>
          <a:prstGeom prst="rect">
            <a:avLst/>
          </a:prstGeom>
          <a:noFill/>
          <a:ln/>
        </p:spPr>
        <p:txBody>
          <a:bodyPr wrap="square" lIns="0" tIns="0" rIns="0" bIns="0" rtlCol="0" anchor="ctr"/>
          <a:lstStyle/>
          <a:p>
            <a:pPr indent="0" marL="0">
              <a:lnSpc>
                <a:spcPct val="140000"/>
              </a:lnSpc>
              <a:buNone/>
            </a:pPr>
            <a:r>
              <a:rPr lang="en-US" sz="1000" dirty="0">
                <a:solidFill>
                  <a:srgbClr val="1E293B"/>
                </a:solidFill>
                <a:latin typeface="Calibri" pitchFamily="34" charset="0"/>
                <a:ea typeface="Calibri" pitchFamily="34" charset="-122"/>
                <a:cs typeface="Calibri" pitchFamily="34" charset="-120"/>
              </a:rPr>
              <a:t>Chaque transaction enregistrée sur Ethereum est soumise à la fonction Keccak-256. Elle prend en entrée les données de la transaction et produit une empreinte de 32 octets (256 bits) totalement unique.</a:t>
            </a:r>
            <a:endParaRPr lang="en-US" sz="1000" dirty="0"/>
          </a:p>
        </p:txBody>
      </p:sp>
      <p:sp>
        <p:nvSpPr>
          <p:cNvPr id="13" name="Shape 10"/>
          <p:cNvSpPr/>
          <p:nvPr/>
        </p:nvSpPr>
        <p:spPr>
          <a:xfrm>
            <a:off x="411480" y="2121408"/>
            <a:ext cx="4297680" cy="411480"/>
          </a:xfrm>
          <a:prstGeom prst="rect">
            <a:avLst/>
          </a:prstGeom>
          <a:solidFill>
            <a:srgbClr val="EBF3FC"/>
          </a:solidFill>
          <a:ln w="6350">
            <a:solidFill>
              <a:srgbClr val="2E6BC4"/>
            </a:solidFill>
            <a:prstDash val="solid"/>
          </a:ln>
        </p:spPr>
      </p:sp>
      <p:sp>
        <p:nvSpPr>
          <p:cNvPr id="14" name="Text 11"/>
          <p:cNvSpPr/>
          <p:nvPr/>
        </p:nvSpPr>
        <p:spPr>
          <a:xfrm>
            <a:off x="457200" y="2148840"/>
            <a:ext cx="4206240" cy="356616"/>
          </a:xfrm>
          <a:prstGeom prst="rect">
            <a:avLst/>
          </a:prstGeom>
          <a:noFill/>
          <a:ln/>
        </p:spPr>
        <p:txBody>
          <a:bodyPr wrap="square" lIns="0" tIns="0" rIns="0" bIns="0" rtlCol="0" anchor="ctr"/>
          <a:lstStyle/>
          <a:p>
            <a:pPr indent="0" marL="0">
              <a:buNone/>
            </a:pPr>
            <a:r>
              <a:rPr lang="en-US" sz="900" dirty="0">
                <a:solidFill>
                  <a:srgbClr val="1A4E8F"/>
                </a:solidFill>
                <a:latin typeface="Calibri" pitchFamily="34" charset="0"/>
                <a:ea typeface="Calibri" pitchFamily="34" charset="-122"/>
                <a:cs typeface="Calibri" pitchFamily="34" charset="-120"/>
              </a:rPr>
              <a:t>Entrée : « 45 000 000 FCFA · Route Angré · COLAS CI »</a:t>
            </a:r>
            <a:endParaRPr lang="en-US" sz="900" dirty="0"/>
          </a:p>
        </p:txBody>
      </p:sp>
      <p:sp>
        <p:nvSpPr>
          <p:cNvPr id="15" name="Text 12"/>
          <p:cNvSpPr/>
          <p:nvPr/>
        </p:nvSpPr>
        <p:spPr>
          <a:xfrm>
            <a:off x="411480" y="2578608"/>
            <a:ext cx="4297680" cy="201168"/>
          </a:xfrm>
          <a:prstGeom prst="rect">
            <a:avLst/>
          </a:prstGeom>
          <a:noFill/>
          <a:ln/>
        </p:spPr>
        <p:txBody>
          <a:bodyPr wrap="square" lIns="0" tIns="0" rIns="0" bIns="0" rtlCol="0" anchor="ctr"/>
          <a:lstStyle/>
          <a:p>
            <a:pPr indent="0" marL="0">
              <a:buNone/>
            </a:pPr>
            <a:r>
              <a:rPr lang="en-US" sz="900" b="1" dirty="0">
                <a:solidFill>
                  <a:srgbClr val="0E7C86"/>
                </a:solidFill>
                <a:latin typeface="Calibri" pitchFamily="34" charset="0"/>
                <a:ea typeface="Calibri" pitchFamily="34" charset="-122"/>
                <a:cs typeface="Calibri" pitchFamily="34" charset="-120"/>
              </a:rPr>
              <a:t>↓  Keccak-256</a:t>
            </a:r>
            <a:endParaRPr lang="en-US" sz="900" dirty="0"/>
          </a:p>
        </p:txBody>
      </p:sp>
      <p:sp>
        <p:nvSpPr>
          <p:cNvPr id="16" name="Shape 13"/>
          <p:cNvSpPr/>
          <p:nvPr/>
        </p:nvSpPr>
        <p:spPr>
          <a:xfrm>
            <a:off x="411480" y="2807208"/>
            <a:ext cx="4297680" cy="347472"/>
          </a:xfrm>
          <a:prstGeom prst="rect">
            <a:avLst/>
          </a:prstGeom>
          <a:solidFill>
            <a:srgbClr val="E8F5EE"/>
          </a:solidFill>
          <a:ln w="6350">
            <a:solidFill>
              <a:srgbClr val="1A5C38"/>
            </a:solidFill>
            <a:prstDash val="solid"/>
          </a:ln>
        </p:spPr>
      </p:sp>
      <p:sp>
        <p:nvSpPr>
          <p:cNvPr id="17" name="Text 14"/>
          <p:cNvSpPr/>
          <p:nvPr/>
        </p:nvSpPr>
        <p:spPr>
          <a:xfrm>
            <a:off x="457200" y="2834640"/>
            <a:ext cx="4206240" cy="292608"/>
          </a:xfrm>
          <a:prstGeom prst="rect">
            <a:avLst/>
          </a:prstGeom>
          <a:noFill/>
          <a:ln/>
        </p:spPr>
        <p:txBody>
          <a:bodyPr wrap="square" lIns="0" tIns="0" rIns="0" bIns="0" rtlCol="0" anchor="ctr"/>
          <a:lstStyle/>
          <a:p>
            <a:pPr indent="0" marL="0">
              <a:buNone/>
            </a:pPr>
            <a:r>
              <a:rPr lang="en-US" sz="900" b="1" dirty="0">
                <a:solidFill>
                  <a:srgbClr val="1A5C38"/>
                </a:solidFill>
                <a:latin typeface="Calibri" pitchFamily="34" charset="0"/>
                <a:ea typeface="Calibri" pitchFamily="34" charset="-122"/>
                <a:cs typeface="Calibri" pitchFamily="34" charset="-120"/>
              </a:rPr>
              <a:t>Hash : 0x3f8a2dc9...b7e841d2</a:t>
            </a:r>
            <a:endParaRPr lang="en-US" sz="900" dirty="0"/>
          </a:p>
        </p:txBody>
      </p:sp>
      <p:sp>
        <p:nvSpPr>
          <p:cNvPr id="18" name="Shape 15"/>
          <p:cNvSpPr/>
          <p:nvPr/>
        </p:nvSpPr>
        <p:spPr>
          <a:xfrm>
            <a:off x="411480" y="3246120"/>
            <a:ext cx="4297680" cy="411480"/>
          </a:xfrm>
          <a:prstGeom prst="rect">
            <a:avLst/>
          </a:prstGeom>
          <a:solidFill>
            <a:srgbClr val="FEE2E2"/>
          </a:solidFill>
          <a:ln w="6350">
            <a:solidFill>
              <a:srgbClr val="C0392B"/>
            </a:solidFill>
            <a:prstDash val="solid"/>
          </a:ln>
        </p:spPr>
      </p:sp>
      <p:sp>
        <p:nvSpPr>
          <p:cNvPr id="19" name="Text 16"/>
          <p:cNvSpPr/>
          <p:nvPr/>
        </p:nvSpPr>
        <p:spPr>
          <a:xfrm>
            <a:off x="457200" y="3264408"/>
            <a:ext cx="4206240" cy="201168"/>
          </a:xfrm>
          <a:prstGeom prst="rect">
            <a:avLst/>
          </a:prstGeom>
          <a:noFill/>
          <a:ln/>
        </p:spPr>
        <p:txBody>
          <a:bodyPr wrap="square" lIns="0" tIns="0" rIns="0" bIns="0" rtlCol="0" anchor="ctr"/>
          <a:lstStyle/>
          <a:p>
            <a:pPr indent="0" marL="0">
              <a:buNone/>
            </a:pPr>
            <a:r>
              <a:rPr lang="en-US" sz="850" dirty="0">
                <a:solidFill>
                  <a:srgbClr val="C0392B"/>
                </a:solidFill>
                <a:latin typeface="Calibri" pitchFamily="34" charset="0"/>
                <a:ea typeface="Calibri" pitchFamily="34" charset="-122"/>
                <a:cs typeface="Calibri" pitchFamily="34" charset="-120"/>
              </a:rPr>
              <a:t>Si on change en « 4 500 000 FCFA » (10x moins) :</a:t>
            </a:r>
            <a:endParaRPr lang="en-US" sz="850" dirty="0"/>
          </a:p>
        </p:txBody>
      </p:sp>
      <p:sp>
        <p:nvSpPr>
          <p:cNvPr id="20" name="Text 17"/>
          <p:cNvSpPr/>
          <p:nvPr/>
        </p:nvSpPr>
        <p:spPr>
          <a:xfrm>
            <a:off x="457200" y="3456432"/>
            <a:ext cx="4206240" cy="164592"/>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Hash : 0xA9F3...COMPLÈTEMENT DIFFÉRENT ❌</a:t>
            </a:r>
            <a:endParaRPr lang="en-US" sz="850" dirty="0"/>
          </a:p>
        </p:txBody>
      </p:sp>
      <p:sp>
        <p:nvSpPr>
          <p:cNvPr id="21" name="Text 18"/>
          <p:cNvSpPr/>
          <p:nvPr/>
        </p:nvSpPr>
        <p:spPr>
          <a:xfrm>
            <a:off x="411480" y="3749040"/>
            <a:ext cx="4297680" cy="777240"/>
          </a:xfrm>
          <a:prstGeom prst="rect">
            <a:avLst/>
          </a:prstGeom>
          <a:noFill/>
          <a:ln/>
        </p:spPr>
        <p:txBody>
          <a:bodyPr wrap="square" lIns="0" tIns="0" rIns="0" bIns="0" rtlCol="0" anchor="ctr"/>
          <a:lstStyle/>
          <a:p>
            <a:pPr indent="0" marL="0">
              <a:lnSpc>
                <a:spcPct val="140000"/>
              </a:lnSpc>
              <a:buNone/>
            </a:pPr>
            <a:r>
              <a:rPr lang="en-US" sz="900" dirty="0">
                <a:solidFill>
                  <a:srgbClr val="6B7280"/>
                </a:solidFill>
                <a:latin typeface="Calibri" pitchFamily="34" charset="0"/>
                <a:ea typeface="Calibri" pitchFamily="34" charset="-122"/>
                <a:cs typeface="Calibri" pitchFamily="34" charset="-120"/>
              </a:rPr>
              <a:t>Propriété critique : il est mathématiquement impossible de trouver deux entrées différentes produisant le même hash (résistance aux collisions).</a:t>
            </a:r>
            <a:endParaRPr lang="en-US" sz="900" dirty="0"/>
          </a:p>
        </p:txBody>
      </p:sp>
      <p:sp>
        <p:nvSpPr>
          <p:cNvPr id="22" name="Shape 19"/>
          <p:cNvSpPr/>
          <p:nvPr/>
        </p:nvSpPr>
        <p:spPr>
          <a:xfrm>
            <a:off x="5120640" y="822960"/>
            <a:ext cx="3749040" cy="3931920"/>
          </a:xfrm>
          <a:prstGeom prst="rect">
            <a:avLst/>
          </a:prstGeom>
          <a:solidFill>
            <a:srgbClr val="0B1F3A"/>
          </a:solidFill>
          <a:ln w="12700">
            <a:solidFill>
              <a:srgbClr val="0B1F3A"/>
            </a:solidFill>
            <a:prstDash val="solid"/>
          </a:ln>
          <a:effectLst>
            <a:outerShdw sx="100000" sy="100000" kx="0" ky="0" algn="bl" rotWithShape="0" blurRad="101600" dist="38100" dir="8100000">
              <a:srgbClr val="000000">
                <a:alpha val="12000"/>
              </a:srgbClr>
            </a:outerShdw>
          </a:effectLst>
        </p:spPr>
      </p:sp>
      <p:sp>
        <p:nvSpPr>
          <p:cNvPr id="23" name="Text 20"/>
          <p:cNvSpPr/>
          <p:nvPr/>
        </p:nvSpPr>
        <p:spPr>
          <a:xfrm>
            <a:off x="5257800" y="896112"/>
            <a:ext cx="3474720" cy="256032"/>
          </a:xfrm>
          <a:prstGeom prst="rect">
            <a:avLst/>
          </a:prstGeom>
          <a:noFill/>
          <a:ln/>
        </p:spPr>
        <p:txBody>
          <a:bodyPr wrap="square" lIns="0" tIns="0" rIns="0" bIns="0" rtlCol="0" anchor="ctr"/>
          <a:lstStyle/>
          <a:p>
            <a:pPr indent="0" marL="0">
              <a:buNone/>
            </a:pPr>
            <a:r>
              <a:rPr lang="en-US" sz="1100" b="1" dirty="0">
                <a:solidFill>
                  <a:srgbClr val="E8690E"/>
                </a:solidFill>
                <a:latin typeface="Calibri" pitchFamily="34" charset="0"/>
                <a:ea typeface="Calibri" pitchFamily="34" charset="-122"/>
                <a:cs typeface="Calibri" pitchFamily="34" charset="-120"/>
              </a:rPr>
              <a:t>Chaîne de blocs interdépendants</a:t>
            </a:r>
            <a:endParaRPr lang="en-US" sz="1100" dirty="0"/>
          </a:p>
        </p:txBody>
      </p:sp>
      <p:sp>
        <p:nvSpPr>
          <p:cNvPr id="24" name="Shape 21"/>
          <p:cNvSpPr/>
          <p:nvPr/>
        </p:nvSpPr>
        <p:spPr>
          <a:xfrm>
            <a:off x="5257800" y="1261872"/>
            <a:ext cx="3474720" cy="749808"/>
          </a:xfrm>
          <a:prstGeom prst="rect">
            <a:avLst/>
          </a:prstGeom>
          <a:solidFill>
            <a:srgbClr val="2E6BC4"/>
          </a:solidFill>
          <a:ln w="3810">
            <a:solidFill>
              <a:srgbClr val="FFFFFF">
                <a:alpha val="20000"/>
              </a:srgbClr>
            </a:solidFill>
            <a:prstDash val="solid"/>
          </a:ln>
        </p:spPr>
      </p:sp>
      <p:sp>
        <p:nvSpPr>
          <p:cNvPr id="25" name="Text 22"/>
          <p:cNvSpPr/>
          <p:nvPr/>
        </p:nvSpPr>
        <p:spPr>
          <a:xfrm>
            <a:off x="5321808" y="1316736"/>
            <a:ext cx="333756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Bloc #19,847,330</a:t>
            </a:r>
            <a:endParaRPr lang="en-US" sz="950" dirty="0"/>
          </a:p>
        </p:txBody>
      </p:sp>
      <p:sp>
        <p:nvSpPr>
          <p:cNvPr id="26" name="Text 23"/>
          <p:cNvSpPr/>
          <p:nvPr/>
        </p:nvSpPr>
        <p:spPr>
          <a:xfrm>
            <a:off x="5321808" y="1527048"/>
            <a:ext cx="3337560" cy="182880"/>
          </a:xfrm>
          <a:prstGeom prst="rect">
            <a:avLst/>
          </a:prstGeom>
          <a:noFill/>
          <a:ln/>
        </p:spPr>
        <p:txBody>
          <a:bodyPr wrap="square" lIns="0" tIns="0" rIns="0" bIns="0" rtlCol="0" anchor="ctr"/>
          <a:lstStyle/>
          <a:p>
            <a:pPr indent="0" marL="0">
              <a:buNone/>
            </a:pPr>
            <a:r>
              <a:rPr lang="en-US" sz="850" dirty="0">
                <a:solidFill>
                  <a:srgbClr val="EBF3FC"/>
                </a:solidFill>
                <a:latin typeface="Calibri" pitchFamily="34" charset="0"/>
                <a:ea typeface="Calibri" pitchFamily="34" charset="-122"/>
                <a:cs typeface="Calibri" pitchFamily="34" charset="-120"/>
              </a:rPr>
              <a:t>Hash: 0x1a2b...c3d4</a:t>
            </a:r>
            <a:endParaRPr lang="en-US" sz="850" dirty="0"/>
          </a:p>
        </p:txBody>
      </p:sp>
      <p:sp>
        <p:nvSpPr>
          <p:cNvPr id="27" name="Text 24"/>
          <p:cNvSpPr/>
          <p:nvPr/>
        </p:nvSpPr>
        <p:spPr>
          <a:xfrm>
            <a:off x="5321808" y="1719072"/>
            <a:ext cx="3337560" cy="182880"/>
          </a:xfrm>
          <a:prstGeom prst="rect">
            <a:avLst/>
          </a:prstGeom>
          <a:noFill/>
          <a:ln/>
        </p:spPr>
        <p:txBody>
          <a:bodyPr wrap="square" lIns="0" tIns="0" rIns="0" bIns="0" rtlCol="0" anchor="ctr"/>
          <a:lstStyle/>
          <a:p>
            <a:pPr indent="0" marL="0">
              <a:buNone/>
            </a:pPr>
            <a:r>
              <a:rPr lang="en-US" sz="800" dirty="0">
                <a:solidFill>
                  <a:srgbClr val="E8690E"/>
                </a:solidFill>
                <a:latin typeface="Calibri" pitchFamily="34" charset="0"/>
                <a:ea typeface="Calibri" pitchFamily="34" charset="-122"/>
                <a:cs typeface="Calibri" pitchFamily="34" charset="-120"/>
              </a:rPr>
              <a:t>Parent: 0x...</a:t>
            </a:r>
            <a:endParaRPr lang="en-US" sz="800" dirty="0"/>
          </a:p>
        </p:txBody>
      </p:sp>
      <p:sp>
        <p:nvSpPr>
          <p:cNvPr id="28" name="Text 25"/>
          <p:cNvSpPr/>
          <p:nvPr/>
        </p:nvSpPr>
        <p:spPr>
          <a:xfrm>
            <a:off x="6629400" y="2029968"/>
            <a:ext cx="365760" cy="219456"/>
          </a:xfrm>
          <a:prstGeom prst="rect">
            <a:avLst/>
          </a:prstGeom>
          <a:noFill/>
          <a:ln/>
        </p:spPr>
        <p:txBody>
          <a:bodyPr wrap="square" lIns="0" tIns="0" rIns="0" bIns="0" rtlCol="0" anchor="ctr"/>
          <a:lstStyle/>
          <a:p>
            <a:pPr algn="ctr" indent="0" marL="0">
              <a:buNone/>
            </a:pPr>
            <a:r>
              <a:rPr lang="en-US" sz="1300" b="1" dirty="0">
                <a:solidFill>
                  <a:srgbClr val="E8690E"/>
                </a:solidFill>
                <a:latin typeface="Calibri" pitchFamily="34" charset="0"/>
                <a:ea typeface="Calibri" pitchFamily="34" charset="-122"/>
                <a:cs typeface="Calibri" pitchFamily="34" charset="-120"/>
              </a:rPr>
              <a:t>↓</a:t>
            </a:r>
            <a:endParaRPr lang="en-US" sz="1300" dirty="0"/>
          </a:p>
        </p:txBody>
      </p:sp>
      <p:sp>
        <p:nvSpPr>
          <p:cNvPr id="29" name="Shape 26"/>
          <p:cNvSpPr/>
          <p:nvPr/>
        </p:nvSpPr>
        <p:spPr>
          <a:xfrm>
            <a:off x="5257800" y="2267712"/>
            <a:ext cx="3474720" cy="749808"/>
          </a:xfrm>
          <a:prstGeom prst="rect">
            <a:avLst/>
          </a:prstGeom>
          <a:solidFill>
            <a:srgbClr val="0E7C86"/>
          </a:solidFill>
          <a:ln w="3810">
            <a:solidFill>
              <a:srgbClr val="FFFFFF">
                <a:alpha val="20000"/>
              </a:srgbClr>
            </a:solidFill>
            <a:prstDash val="solid"/>
          </a:ln>
        </p:spPr>
      </p:sp>
      <p:sp>
        <p:nvSpPr>
          <p:cNvPr id="30" name="Text 27"/>
          <p:cNvSpPr/>
          <p:nvPr/>
        </p:nvSpPr>
        <p:spPr>
          <a:xfrm>
            <a:off x="5321808" y="2322576"/>
            <a:ext cx="333756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Bloc #19,847,331</a:t>
            </a:r>
            <a:endParaRPr lang="en-US" sz="950" dirty="0"/>
          </a:p>
        </p:txBody>
      </p:sp>
      <p:sp>
        <p:nvSpPr>
          <p:cNvPr id="31" name="Text 28"/>
          <p:cNvSpPr/>
          <p:nvPr/>
        </p:nvSpPr>
        <p:spPr>
          <a:xfrm>
            <a:off x="5321808" y="2532888"/>
            <a:ext cx="3337560" cy="182880"/>
          </a:xfrm>
          <a:prstGeom prst="rect">
            <a:avLst/>
          </a:prstGeom>
          <a:noFill/>
          <a:ln/>
        </p:spPr>
        <p:txBody>
          <a:bodyPr wrap="square" lIns="0" tIns="0" rIns="0" bIns="0" rtlCol="0" anchor="ctr"/>
          <a:lstStyle/>
          <a:p>
            <a:pPr indent="0" marL="0">
              <a:buNone/>
            </a:pPr>
            <a:r>
              <a:rPr lang="en-US" sz="850" dirty="0">
                <a:solidFill>
                  <a:srgbClr val="EBF3FC"/>
                </a:solidFill>
                <a:latin typeface="Calibri" pitchFamily="34" charset="0"/>
                <a:ea typeface="Calibri" pitchFamily="34" charset="-122"/>
                <a:cs typeface="Calibri" pitchFamily="34" charset="-120"/>
              </a:rPr>
              <a:t>Hash: 0x3f8a...e841</a:t>
            </a:r>
            <a:endParaRPr lang="en-US" sz="850" dirty="0"/>
          </a:p>
        </p:txBody>
      </p:sp>
      <p:sp>
        <p:nvSpPr>
          <p:cNvPr id="32" name="Text 29"/>
          <p:cNvSpPr/>
          <p:nvPr/>
        </p:nvSpPr>
        <p:spPr>
          <a:xfrm>
            <a:off x="5321808" y="2724912"/>
            <a:ext cx="3337560" cy="182880"/>
          </a:xfrm>
          <a:prstGeom prst="rect">
            <a:avLst/>
          </a:prstGeom>
          <a:noFill/>
          <a:ln/>
        </p:spPr>
        <p:txBody>
          <a:bodyPr wrap="square" lIns="0" tIns="0" rIns="0" bIns="0" rtlCol="0" anchor="ctr"/>
          <a:lstStyle/>
          <a:p>
            <a:pPr indent="0" marL="0">
              <a:buNone/>
            </a:pPr>
            <a:r>
              <a:rPr lang="en-US" sz="800" dirty="0">
                <a:solidFill>
                  <a:srgbClr val="E8690E"/>
                </a:solidFill>
                <a:latin typeface="Calibri" pitchFamily="34" charset="0"/>
                <a:ea typeface="Calibri" pitchFamily="34" charset="-122"/>
                <a:cs typeface="Calibri" pitchFamily="34" charset="-120"/>
              </a:rPr>
              <a:t>Parent: 0x1a2b...c3d4</a:t>
            </a:r>
            <a:endParaRPr lang="en-US" sz="800" dirty="0"/>
          </a:p>
        </p:txBody>
      </p:sp>
      <p:sp>
        <p:nvSpPr>
          <p:cNvPr id="33" name="Text 30"/>
          <p:cNvSpPr/>
          <p:nvPr/>
        </p:nvSpPr>
        <p:spPr>
          <a:xfrm>
            <a:off x="6629400" y="3035808"/>
            <a:ext cx="365760" cy="219456"/>
          </a:xfrm>
          <a:prstGeom prst="rect">
            <a:avLst/>
          </a:prstGeom>
          <a:noFill/>
          <a:ln/>
        </p:spPr>
        <p:txBody>
          <a:bodyPr wrap="square" lIns="0" tIns="0" rIns="0" bIns="0" rtlCol="0" anchor="ctr"/>
          <a:lstStyle/>
          <a:p>
            <a:pPr algn="ctr" indent="0" marL="0">
              <a:buNone/>
            </a:pPr>
            <a:r>
              <a:rPr lang="en-US" sz="1300" b="1" dirty="0">
                <a:solidFill>
                  <a:srgbClr val="E8690E"/>
                </a:solidFill>
                <a:latin typeface="Calibri" pitchFamily="34" charset="0"/>
                <a:ea typeface="Calibri" pitchFamily="34" charset="-122"/>
                <a:cs typeface="Calibri" pitchFamily="34" charset="-120"/>
              </a:rPr>
              <a:t>↓</a:t>
            </a:r>
            <a:endParaRPr lang="en-US" sz="1300" dirty="0"/>
          </a:p>
        </p:txBody>
      </p:sp>
      <p:sp>
        <p:nvSpPr>
          <p:cNvPr id="34" name="Shape 31"/>
          <p:cNvSpPr/>
          <p:nvPr/>
        </p:nvSpPr>
        <p:spPr>
          <a:xfrm>
            <a:off x="5257800" y="3273552"/>
            <a:ext cx="3474720" cy="749808"/>
          </a:xfrm>
          <a:prstGeom prst="rect">
            <a:avLst/>
          </a:prstGeom>
          <a:solidFill>
            <a:srgbClr val="1A4E8F"/>
          </a:solidFill>
          <a:ln w="3810">
            <a:solidFill>
              <a:srgbClr val="FFFFFF">
                <a:alpha val="20000"/>
              </a:srgbClr>
            </a:solidFill>
            <a:prstDash val="solid"/>
          </a:ln>
        </p:spPr>
      </p:sp>
      <p:sp>
        <p:nvSpPr>
          <p:cNvPr id="35" name="Text 32"/>
          <p:cNvSpPr/>
          <p:nvPr/>
        </p:nvSpPr>
        <p:spPr>
          <a:xfrm>
            <a:off x="5321808" y="3328416"/>
            <a:ext cx="333756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Bloc #19,847,332</a:t>
            </a:r>
            <a:endParaRPr lang="en-US" sz="950" dirty="0"/>
          </a:p>
        </p:txBody>
      </p:sp>
      <p:sp>
        <p:nvSpPr>
          <p:cNvPr id="36" name="Text 33"/>
          <p:cNvSpPr/>
          <p:nvPr/>
        </p:nvSpPr>
        <p:spPr>
          <a:xfrm>
            <a:off x="5321808" y="3538728"/>
            <a:ext cx="3337560" cy="182880"/>
          </a:xfrm>
          <a:prstGeom prst="rect">
            <a:avLst/>
          </a:prstGeom>
          <a:noFill/>
          <a:ln/>
        </p:spPr>
        <p:txBody>
          <a:bodyPr wrap="square" lIns="0" tIns="0" rIns="0" bIns="0" rtlCol="0" anchor="ctr"/>
          <a:lstStyle/>
          <a:p>
            <a:pPr indent="0" marL="0">
              <a:buNone/>
            </a:pPr>
            <a:r>
              <a:rPr lang="en-US" sz="850" dirty="0">
                <a:solidFill>
                  <a:srgbClr val="EBF3FC"/>
                </a:solidFill>
                <a:latin typeface="Calibri" pitchFamily="34" charset="0"/>
                <a:ea typeface="Calibri" pitchFamily="34" charset="-122"/>
                <a:cs typeface="Calibri" pitchFamily="34" charset="-120"/>
              </a:rPr>
              <a:t>Hash: 0xc45e...8f30</a:t>
            </a:r>
            <a:endParaRPr lang="en-US" sz="850" dirty="0"/>
          </a:p>
        </p:txBody>
      </p:sp>
      <p:sp>
        <p:nvSpPr>
          <p:cNvPr id="37" name="Text 34"/>
          <p:cNvSpPr/>
          <p:nvPr/>
        </p:nvSpPr>
        <p:spPr>
          <a:xfrm>
            <a:off x="5321808" y="3730752"/>
            <a:ext cx="3337560" cy="182880"/>
          </a:xfrm>
          <a:prstGeom prst="rect">
            <a:avLst/>
          </a:prstGeom>
          <a:noFill/>
          <a:ln/>
        </p:spPr>
        <p:txBody>
          <a:bodyPr wrap="square" lIns="0" tIns="0" rIns="0" bIns="0" rtlCol="0" anchor="ctr"/>
          <a:lstStyle/>
          <a:p>
            <a:pPr indent="0" marL="0">
              <a:buNone/>
            </a:pPr>
            <a:r>
              <a:rPr lang="en-US" sz="800" dirty="0">
                <a:solidFill>
                  <a:srgbClr val="E8690E"/>
                </a:solidFill>
                <a:latin typeface="Calibri" pitchFamily="34" charset="0"/>
                <a:ea typeface="Calibri" pitchFamily="34" charset="-122"/>
                <a:cs typeface="Calibri" pitchFamily="34" charset="-120"/>
              </a:rPr>
              <a:t>Parent: 0x3f8a...e841</a:t>
            </a:r>
            <a:endParaRPr lang="en-US" sz="800" dirty="0"/>
          </a:p>
        </p:txBody>
      </p:sp>
      <p:sp>
        <p:nvSpPr>
          <p:cNvPr id="38" name="Text 35"/>
          <p:cNvSpPr/>
          <p:nvPr/>
        </p:nvSpPr>
        <p:spPr>
          <a:xfrm>
            <a:off x="5257800" y="4261104"/>
            <a:ext cx="3474720" cy="457200"/>
          </a:xfrm>
          <a:prstGeom prst="rect">
            <a:avLst/>
          </a:prstGeom>
          <a:noFill/>
          <a:ln/>
        </p:spPr>
        <p:txBody>
          <a:bodyPr wrap="square" lIns="0" tIns="0" rIns="0" bIns="0" rtlCol="0" anchor="ctr"/>
          <a:lstStyle/>
          <a:p>
            <a:pPr indent="0" marL="0">
              <a:lnSpc>
                <a:spcPct val="135000"/>
              </a:lnSpc>
              <a:buNone/>
            </a:pPr>
            <a:r>
              <a:rPr lang="en-US" sz="850" dirty="0">
                <a:solidFill>
                  <a:srgbClr val="EBF3FC"/>
                </a:solidFill>
                <a:latin typeface="Calibri" pitchFamily="34" charset="0"/>
                <a:ea typeface="Calibri" pitchFamily="34" charset="-122"/>
                <a:cs typeface="Calibri" pitchFamily="34" charset="-120"/>
              </a:rPr>
              <a:t>Modifier un ancien bloc invalide mécaniquement tous les blocs suivants. Pour attaquer Ethereum, il faudrait contrôler 51% du staking mondial (&gt; 350 Mds USD).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Flux complet : de la saisie à la vérification citoyenne</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7 étapes · &lt; 30 secondes · Aucun intermédiaire de confiance requis</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5 / 10</a:t>
            </a:r>
            <a:endParaRPr lang="en-US" sz="750" dirty="0"/>
          </a:p>
        </p:txBody>
      </p:sp>
      <p:sp>
        <p:nvSpPr>
          <p:cNvPr id="10" name="Shape 7"/>
          <p:cNvSpPr/>
          <p:nvPr/>
        </p:nvSpPr>
        <p:spPr>
          <a:xfrm>
            <a:off x="292608" y="868680"/>
            <a:ext cx="1069848" cy="2651760"/>
          </a:xfrm>
          <a:prstGeom prst="rect">
            <a:avLst/>
          </a:prstGeom>
          <a:solidFill>
            <a:srgbClr val="2E6BC4"/>
          </a:solidFill>
          <a:ln w="12700">
            <a:solidFill>
              <a:srgbClr val="2E6BC4"/>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640080" y="914400"/>
            <a:ext cx="384048" cy="384048"/>
          </a:xfrm>
          <a:prstGeom prst="ellipse">
            <a:avLst/>
          </a:prstGeom>
          <a:solidFill>
            <a:srgbClr val="FFFFFF"/>
          </a:solidFill>
          <a:ln w="12700">
            <a:solidFill>
              <a:srgbClr val="FFFFFF"/>
            </a:solidFill>
            <a:prstDash val="solid"/>
          </a:ln>
        </p:spPr>
      </p:sp>
      <p:sp>
        <p:nvSpPr>
          <p:cNvPr id="12" name="Text 9"/>
          <p:cNvSpPr/>
          <p:nvPr/>
        </p:nvSpPr>
        <p:spPr>
          <a:xfrm>
            <a:off x="640080" y="905256"/>
            <a:ext cx="384048" cy="384048"/>
          </a:xfrm>
          <a:prstGeom prst="rect">
            <a:avLst/>
          </a:prstGeom>
          <a:noFill/>
          <a:ln/>
        </p:spPr>
        <p:txBody>
          <a:bodyPr wrap="square" lIns="0" tIns="0" rIns="0" bIns="0" rtlCol="0" anchor="ctr"/>
          <a:lstStyle/>
          <a:p>
            <a:pPr algn="ctr" indent="0" marL="0">
              <a:buNone/>
            </a:pPr>
            <a:r>
              <a:rPr lang="en-US" sz="1200" b="1" dirty="0">
                <a:solidFill>
                  <a:srgbClr val="2E6BC4"/>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292608"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4" name="Text 11"/>
          <p:cNvSpPr/>
          <p:nvPr/>
        </p:nvSpPr>
        <p:spPr>
          <a:xfrm>
            <a:off x="292608"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SAISIE</a:t>
            </a:r>
            <a:endParaRPr lang="en-US" sz="850" dirty="0"/>
          </a:p>
        </p:txBody>
      </p:sp>
      <p:sp>
        <p:nvSpPr>
          <p:cNvPr id="15" name="Text 12"/>
          <p:cNvSpPr/>
          <p:nvPr/>
        </p:nvSpPr>
        <p:spPr>
          <a:xfrm>
            <a:off x="347472"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Agent communal entre</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montant, catégorie,</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bénéficiaire</a:t>
            </a:r>
            <a:endParaRPr lang="en-US" sz="800" dirty="0"/>
          </a:p>
        </p:txBody>
      </p:sp>
      <p:sp>
        <p:nvSpPr>
          <p:cNvPr id="16" name="Text 13"/>
          <p:cNvSpPr/>
          <p:nvPr/>
        </p:nvSpPr>
        <p:spPr>
          <a:xfrm>
            <a:off x="1380744"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17" name="Shape 14"/>
          <p:cNvSpPr/>
          <p:nvPr/>
        </p:nvSpPr>
        <p:spPr>
          <a:xfrm>
            <a:off x="1508760" y="868680"/>
            <a:ext cx="1069848" cy="2651760"/>
          </a:xfrm>
          <a:prstGeom prst="rect">
            <a:avLst/>
          </a:prstGeom>
          <a:solidFill>
            <a:srgbClr val="1A4E8F"/>
          </a:solidFill>
          <a:ln w="12700">
            <a:solidFill>
              <a:srgbClr val="1A4E8F"/>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1856232" y="914400"/>
            <a:ext cx="384048" cy="384048"/>
          </a:xfrm>
          <a:prstGeom prst="ellipse">
            <a:avLst/>
          </a:prstGeom>
          <a:solidFill>
            <a:srgbClr val="FFFFFF"/>
          </a:solidFill>
          <a:ln w="12700">
            <a:solidFill>
              <a:srgbClr val="FFFFFF"/>
            </a:solidFill>
            <a:prstDash val="solid"/>
          </a:ln>
        </p:spPr>
      </p:sp>
      <p:sp>
        <p:nvSpPr>
          <p:cNvPr id="19" name="Text 16"/>
          <p:cNvSpPr/>
          <p:nvPr/>
        </p:nvSpPr>
        <p:spPr>
          <a:xfrm>
            <a:off x="1856232" y="905256"/>
            <a:ext cx="384048" cy="384048"/>
          </a:xfrm>
          <a:prstGeom prst="rect">
            <a:avLst/>
          </a:prstGeom>
          <a:noFill/>
          <a:ln/>
        </p:spPr>
        <p:txBody>
          <a:bodyPr wrap="square" lIns="0" tIns="0" rIns="0" bIns="0" rtlCol="0" anchor="ctr"/>
          <a:lstStyle/>
          <a:p>
            <a:pPr algn="ctr" indent="0" marL="0">
              <a:buNone/>
            </a:pPr>
            <a:r>
              <a:rPr lang="en-US" sz="1200" b="1" dirty="0">
                <a:solidFill>
                  <a:srgbClr val="1A4E8F"/>
                </a:solidFill>
                <a:latin typeface="Calibri" pitchFamily="34" charset="0"/>
                <a:ea typeface="Calibri" pitchFamily="34" charset="-122"/>
                <a:cs typeface="Calibri" pitchFamily="34" charset="-120"/>
              </a:rPr>
              <a:t>2</a:t>
            </a:r>
            <a:endParaRPr lang="en-US" sz="1200" dirty="0"/>
          </a:p>
        </p:txBody>
      </p:sp>
      <p:sp>
        <p:nvSpPr>
          <p:cNvPr id="20" name="Text 17"/>
          <p:cNvSpPr/>
          <p:nvPr/>
        </p:nvSpPr>
        <p:spPr>
          <a:xfrm>
            <a:off x="1508760"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8"/>
          <p:cNvSpPr/>
          <p:nvPr/>
        </p:nvSpPr>
        <p:spPr>
          <a:xfrm>
            <a:off x="1508760"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SIGNATURE</a:t>
            </a:r>
            <a:endParaRPr lang="en-US" sz="850" dirty="0"/>
          </a:p>
        </p:txBody>
      </p:sp>
      <p:sp>
        <p:nvSpPr>
          <p:cNvPr id="22" name="Text 19"/>
          <p:cNvSpPr/>
          <p:nvPr/>
        </p:nvSpPr>
        <p:spPr>
          <a:xfrm>
            <a:off x="1563624"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Responsable signe</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via wallet MetaMask</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(clé privée)</a:t>
            </a:r>
            <a:endParaRPr lang="en-US" sz="800" dirty="0"/>
          </a:p>
        </p:txBody>
      </p:sp>
      <p:sp>
        <p:nvSpPr>
          <p:cNvPr id="23" name="Text 20"/>
          <p:cNvSpPr/>
          <p:nvPr/>
        </p:nvSpPr>
        <p:spPr>
          <a:xfrm>
            <a:off x="2596896"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24" name="Shape 21"/>
          <p:cNvSpPr/>
          <p:nvPr/>
        </p:nvSpPr>
        <p:spPr>
          <a:xfrm>
            <a:off x="2724912" y="868680"/>
            <a:ext cx="1069848" cy="2651760"/>
          </a:xfrm>
          <a:prstGeom prst="rect">
            <a:avLst/>
          </a:prstGeom>
          <a:solidFill>
            <a:srgbClr val="0E7C86"/>
          </a:solidFill>
          <a:ln w="12700">
            <a:solidFill>
              <a:srgbClr val="0E7C86"/>
            </a:solidFill>
            <a:prstDash val="solid"/>
          </a:ln>
          <a:effectLst>
            <a:outerShdw sx="100000" sy="100000" kx="0" ky="0" algn="bl" rotWithShape="0" blurRad="101600" dist="38100" dir="8100000">
              <a:srgbClr val="000000">
                <a:alpha val="12000"/>
              </a:srgbClr>
            </a:outerShdw>
          </a:effectLst>
        </p:spPr>
      </p:sp>
      <p:sp>
        <p:nvSpPr>
          <p:cNvPr id="25" name="Shape 22"/>
          <p:cNvSpPr/>
          <p:nvPr/>
        </p:nvSpPr>
        <p:spPr>
          <a:xfrm>
            <a:off x="3072384" y="914400"/>
            <a:ext cx="384048" cy="384048"/>
          </a:xfrm>
          <a:prstGeom prst="ellipse">
            <a:avLst/>
          </a:prstGeom>
          <a:solidFill>
            <a:srgbClr val="FFFFFF"/>
          </a:solidFill>
          <a:ln w="12700">
            <a:solidFill>
              <a:srgbClr val="FFFFFF"/>
            </a:solidFill>
            <a:prstDash val="solid"/>
          </a:ln>
        </p:spPr>
      </p:sp>
      <p:sp>
        <p:nvSpPr>
          <p:cNvPr id="26" name="Text 23"/>
          <p:cNvSpPr/>
          <p:nvPr/>
        </p:nvSpPr>
        <p:spPr>
          <a:xfrm>
            <a:off x="3072384" y="905256"/>
            <a:ext cx="384048" cy="38404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7" name="Text 24"/>
          <p:cNvSpPr/>
          <p:nvPr/>
        </p:nvSpPr>
        <p:spPr>
          <a:xfrm>
            <a:off x="2724912"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8" name="Text 25"/>
          <p:cNvSpPr/>
          <p:nvPr/>
        </p:nvSpPr>
        <p:spPr>
          <a:xfrm>
            <a:off x="2724912"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BROADCAST</a:t>
            </a:r>
            <a:endParaRPr lang="en-US" sz="850" dirty="0"/>
          </a:p>
        </p:txBody>
      </p:sp>
      <p:sp>
        <p:nvSpPr>
          <p:cNvPr id="29" name="Text 26"/>
          <p:cNvSpPr/>
          <p:nvPr/>
        </p:nvSpPr>
        <p:spPr>
          <a:xfrm>
            <a:off x="2779776"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Transaction envoyée</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sur le réseau Ethereum</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(Sepolia / Mainnet)</a:t>
            </a:r>
            <a:endParaRPr lang="en-US" sz="800" dirty="0"/>
          </a:p>
        </p:txBody>
      </p:sp>
      <p:sp>
        <p:nvSpPr>
          <p:cNvPr id="30" name="Text 27"/>
          <p:cNvSpPr/>
          <p:nvPr/>
        </p:nvSpPr>
        <p:spPr>
          <a:xfrm>
            <a:off x="3813048"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31" name="Shape 28"/>
          <p:cNvSpPr/>
          <p:nvPr/>
        </p:nvSpPr>
        <p:spPr>
          <a:xfrm>
            <a:off x="3941064" y="868680"/>
            <a:ext cx="1069848" cy="2651760"/>
          </a:xfrm>
          <a:prstGeom prst="rect">
            <a:avLst/>
          </a:prstGeom>
          <a:solidFill>
            <a:srgbClr val="0369A1"/>
          </a:solidFill>
          <a:ln w="12700">
            <a:solidFill>
              <a:srgbClr val="0369A1"/>
            </a:solidFill>
            <a:prstDash val="solid"/>
          </a:ln>
          <a:effectLst>
            <a:outerShdw sx="100000" sy="100000" kx="0" ky="0" algn="bl" rotWithShape="0" blurRad="101600" dist="38100" dir="8100000">
              <a:srgbClr val="000000">
                <a:alpha val="12000"/>
              </a:srgbClr>
            </a:outerShdw>
          </a:effectLst>
        </p:spPr>
      </p:sp>
      <p:sp>
        <p:nvSpPr>
          <p:cNvPr id="32" name="Shape 29"/>
          <p:cNvSpPr/>
          <p:nvPr/>
        </p:nvSpPr>
        <p:spPr>
          <a:xfrm>
            <a:off x="4288536" y="914400"/>
            <a:ext cx="384048" cy="384048"/>
          </a:xfrm>
          <a:prstGeom prst="ellipse">
            <a:avLst/>
          </a:prstGeom>
          <a:solidFill>
            <a:srgbClr val="FFFFFF"/>
          </a:solidFill>
          <a:ln w="12700">
            <a:solidFill>
              <a:srgbClr val="FFFFFF"/>
            </a:solidFill>
            <a:prstDash val="solid"/>
          </a:ln>
        </p:spPr>
      </p:sp>
      <p:sp>
        <p:nvSpPr>
          <p:cNvPr id="33" name="Text 30"/>
          <p:cNvSpPr/>
          <p:nvPr/>
        </p:nvSpPr>
        <p:spPr>
          <a:xfrm>
            <a:off x="4288536" y="905256"/>
            <a:ext cx="384048" cy="384048"/>
          </a:xfrm>
          <a:prstGeom prst="rect">
            <a:avLst/>
          </a:prstGeom>
          <a:noFill/>
          <a:ln/>
        </p:spPr>
        <p:txBody>
          <a:bodyPr wrap="square" lIns="0" tIns="0" rIns="0" bIns="0"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4</a:t>
            </a:r>
            <a:endParaRPr lang="en-US" sz="1200" dirty="0"/>
          </a:p>
        </p:txBody>
      </p:sp>
      <p:sp>
        <p:nvSpPr>
          <p:cNvPr id="34" name="Text 31"/>
          <p:cNvSpPr/>
          <p:nvPr/>
        </p:nvSpPr>
        <p:spPr>
          <a:xfrm>
            <a:off x="3941064"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5" name="Text 32"/>
          <p:cNvSpPr/>
          <p:nvPr/>
        </p:nvSpPr>
        <p:spPr>
          <a:xfrm>
            <a:off x="3941064"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CONSENSUS</a:t>
            </a:r>
            <a:endParaRPr lang="en-US" sz="850" dirty="0"/>
          </a:p>
        </p:txBody>
      </p:sp>
      <p:sp>
        <p:nvSpPr>
          <p:cNvPr id="36" name="Text 33"/>
          <p:cNvSpPr/>
          <p:nvPr/>
        </p:nvSpPr>
        <p:spPr>
          <a:xfrm>
            <a:off x="3995928"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Nœuds du réseau</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valident la TX</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(Proof of Stake)</a:t>
            </a:r>
            <a:endParaRPr lang="en-US" sz="800" dirty="0"/>
          </a:p>
        </p:txBody>
      </p:sp>
      <p:sp>
        <p:nvSpPr>
          <p:cNvPr id="37" name="Text 34"/>
          <p:cNvSpPr/>
          <p:nvPr/>
        </p:nvSpPr>
        <p:spPr>
          <a:xfrm>
            <a:off x="5029200"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38" name="Shape 35"/>
          <p:cNvSpPr/>
          <p:nvPr/>
        </p:nvSpPr>
        <p:spPr>
          <a:xfrm>
            <a:off x="5157216" y="868680"/>
            <a:ext cx="1069848" cy="2651760"/>
          </a:xfrm>
          <a:prstGeom prst="rect">
            <a:avLst/>
          </a:prstGeom>
          <a:solidFill>
            <a:srgbClr val="C95E00"/>
          </a:solidFill>
          <a:ln w="12700">
            <a:solidFill>
              <a:srgbClr val="C95E00"/>
            </a:solidFill>
            <a:prstDash val="solid"/>
          </a:ln>
          <a:effectLst>
            <a:outerShdw sx="100000" sy="100000" kx="0" ky="0" algn="bl" rotWithShape="0" blurRad="101600" dist="38100" dir="8100000">
              <a:srgbClr val="000000">
                <a:alpha val="12000"/>
              </a:srgbClr>
            </a:outerShdw>
          </a:effectLst>
        </p:spPr>
      </p:sp>
      <p:sp>
        <p:nvSpPr>
          <p:cNvPr id="39" name="Shape 36"/>
          <p:cNvSpPr/>
          <p:nvPr/>
        </p:nvSpPr>
        <p:spPr>
          <a:xfrm>
            <a:off x="5504688" y="914400"/>
            <a:ext cx="384048" cy="384048"/>
          </a:xfrm>
          <a:prstGeom prst="ellipse">
            <a:avLst/>
          </a:prstGeom>
          <a:solidFill>
            <a:srgbClr val="FFFFFF"/>
          </a:solidFill>
          <a:ln w="12700">
            <a:solidFill>
              <a:srgbClr val="FFFFFF"/>
            </a:solidFill>
            <a:prstDash val="solid"/>
          </a:ln>
        </p:spPr>
      </p:sp>
      <p:sp>
        <p:nvSpPr>
          <p:cNvPr id="40" name="Text 37"/>
          <p:cNvSpPr/>
          <p:nvPr/>
        </p:nvSpPr>
        <p:spPr>
          <a:xfrm>
            <a:off x="5504688" y="905256"/>
            <a:ext cx="384048" cy="384048"/>
          </a:xfrm>
          <a:prstGeom prst="rect">
            <a:avLst/>
          </a:prstGeom>
          <a:noFill/>
          <a:ln/>
        </p:spPr>
        <p:txBody>
          <a:bodyPr wrap="square" lIns="0" tIns="0" rIns="0" bIns="0" rtlCol="0" anchor="ctr"/>
          <a:lstStyle/>
          <a:p>
            <a:pPr algn="ctr" indent="0" marL="0">
              <a:buNone/>
            </a:pPr>
            <a:r>
              <a:rPr lang="en-US" sz="1200" b="1" dirty="0">
                <a:solidFill>
                  <a:srgbClr val="C95E00"/>
                </a:solidFill>
                <a:latin typeface="Calibri" pitchFamily="34" charset="0"/>
                <a:ea typeface="Calibri" pitchFamily="34" charset="-122"/>
                <a:cs typeface="Calibri" pitchFamily="34" charset="-120"/>
              </a:rPr>
              <a:t>5</a:t>
            </a:r>
            <a:endParaRPr lang="en-US" sz="1200" dirty="0"/>
          </a:p>
        </p:txBody>
      </p:sp>
      <p:sp>
        <p:nvSpPr>
          <p:cNvPr id="41" name="Text 38"/>
          <p:cNvSpPr/>
          <p:nvPr/>
        </p:nvSpPr>
        <p:spPr>
          <a:xfrm>
            <a:off x="5157216"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2" name="Text 39"/>
          <p:cNvSpPr/>
          <p:nvPr/>
        </p:nvSpPr>
        <p:spPr>
          <a:xfrm>
            <a:off x="5157216"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BLOC</a:t>
            </a:r>
            <a:endParaRPr lang="en-US" sz="850" dirty="0"/>
          </a:p>
        </p:txBody>
      </p:sp>
      <p:sp>
        <p:nvSpPr>
          <p:cNvPr id="43" name="Text 40"/>
          <p:cNvSpPr/>
          <p:nvPr/>
        </p:nvSpPr>
        <p:spPr>
          <a:xfrm>
            <a:off x="5212080"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TX gravée dans</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un bloc avec</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horodatage Unix</a:t>
            </a:r>
            <a:endParaRPr lang="en-US" sz="800" dirty="0"/>
          </a:p>
        </p:txBody>
      </p:sp>
      <p:sp>
        <p:nvSpPr>
          <p:cNvPr id="44" name="Text 41"/>
          <p:cNvSpPr/>
          <p:nvPr/>
        </p:nvSpPr>
        <p:spPr>
          <a:xfrm>
            <a:off x="6245352"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45" name="Shape 42"/>
          <p:cNvSpPr/>
          <p:nvPr/>
        </p:nvSpPr>
        <p:spPr>
          <a:xfrm>
            <a:off x="6373368" y="868680"/>
            <a:ext cx="1069848" cy="2651760"/>
          </a:xfrm>
          <a:prstGeom prst="rect">
            <a:avLst/>
          </a:prstGeom>
          <a:solidFill>
            <a:srgbClr val="1A5C38"/>
          </a:solidFill>
          <a:ln w="12700">
            <a:solidFill>
              <a:srgbClr val="1A5C38"/>
            </a:solidFill>
            <a:prstDash val="solid"/>
          </a:ln>
          <a:effectLst>
            <a:outerShdw sx="100000" sy="100000" kx="0" ky="0" algn="bl" rotWithShape="0" blurRad="101600" dist="38100" dir="8100000">
              <a:srgbClr val="000000">
                <a:alpha val="12000"/>
              </a:srgbClr>
            </a:outerShdw>
          </a:effectLst>
        </p:spPr>
      </p:sp>
      <p:sp>
        <p:nvSpPr>
          <p:cNvPr id="46" name="Shape 43"/>
          <p:cNvSpPr/>
          <p:nvPr/>
        </p:nvSpPr>
        <p:spPr>
          <a:xfrm>
            <a:off x="6720840" y="914400"/>
            <a:ext cx="384048" cy="384048"/>
          </a:xfrm>
          <a:prstGeom prst="ellipse">
            <a:avLst/>
          </a:prstGeom>
          <a:solidFill>
            <a:srgbClr val="FFFFFF"/>
          </a:solidFill>
          <a:ln w="12700">
            <a:solidFill>
              <a:srgbClr val="FFFFFF"/>
            </a:solidFill>
            <a:prstDash val="solid"/>
          </a:ln>
        </p:spPr>
      </p:sp>
      <p:sp>
        <p:nvSpPr>
          <p:cNvPr id="47" name="Text 44"/>
          <p:cNvSpPr/>
          <p:nvPr/>
        </p:nvSpPr>
        <p:spPr>
          <a:xfrm>
            <a:off x="6720840" y="905256"/>
            <a:ext cx="384048" cy="384048"/>
          </a:xfrm>
          <a:prstGeom prst="rect">
            <a:avLst/>
          </a:prstGeom>
          <a:noFill/>
          <a:ln/>
        </p:spPr>
        <p:txBody>
          <a:bodyPr wrap="square" lIns="0" tIns="0" rIns="0" bIns="0" rtlCol="0" anchor="ctr"/>
          <a:lstStyle/>
          <a:p>
            <a:pPr algn="ctr" indent="0" marL="0">
              <a:buNone/>
            </a:pPr>
            <a:r>
              <a:rPr lang="en-US" sz="1200" b="1" dirty="0">
                <a:solidFill>
                  <a:srgbClr val="1A5C38"/>
                </a:solidFill>
                <a:latin typeface="Calibri" pitchFamily="34" charset="0"/>
                <a:ea typeface="Calibri" pitchFamily="34" charset="-122"/>
                <a:cs typeface="Calibri" pitchFamily="34" charset="-120"/>
              </a:rPr>
              <a:t>6</a:t>
            </a:r>
            <a:endParaRPr lang="en-US" sz="1200" dirty="0"/>
          </a:p>
        </p:txBody>
      </p:sp>
      <p:sp>
        <p:nvSpPr>
          <p:cNvPr id="48" name="Text 45"/>
          <p:cNvSpPr/>
          <p:nvPr/>
        </p:nvSpPr>
        <p:spPr>
          <a:xfrm>
            <a:off x="6373368"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9" name="Text 46"/>
          <p:cNvSpPr/>
          <p:nvPr/>
        </p:nvSpPr>
        <p:spPr>
          <a:xfrm>
            <a:off x="6373368"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INDEXATION</a:t>
            </a:r>
            <a:endParaRPr lang="en-US" sz="850" dirty="0"/>
          </a:p>
        </p:txBody>
      </p:sp>
      <p:sp>
        <p:nvSpPr>
          <p:cNvPr id="50" name="Text 47"/>
          <p:cNvSpPr/>
          <p:nvPr/>
        </p:nvSpPr>
        <p:spPr>
          <a:xfrm>
            <a:off x="6428232"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The Graph indexe</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BudgetEntryRecorded</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(GraphQL temps réel)</a:t>
            </a:r>
            <a:endParaRPr lang="en-US" sz="800" dirty="0"/>
          </a:p>
        </p:txBody>
      </p:sp>
      <p:sp>
        <p:nvSpPr>
          <p:cNvPr id="51" name="Text 48"/>
          <p:cNvSpPr/>
          <p:nvPr/>
        </p:nvSpPr>
        <p:spPr>
          <a:xfrm>
            <a:off x="7461504" y="1965960"/>
            <a:ext cx="164592" cy="274320"/>
          </a:xfrm>
          <a:prstGeom prst="rect">
            <a:avLst/>
          </a:prstGeom>
          <a:noFill/>
          <a:ln/>
        </p:spPr>
        <p:txBody>
          <a:bodyPr wrap="square" lIns="0" tIns="0" rIns="0" bIns="0" rtlCol="0" anchor="ctr"/>
          <a:lstStyle/>
          <a:p>
            <a:pPr algn="ctr" indent="0" marL="0">
              <a:buNone/>
            </a:pPr>
            <a:r>
              <a:rPr lang="en-US" sz="1200" b="1" dirty="0">
                <a:solidFill>
                  <a:srgbClr val="E8690E"/>
                </a:solidFill>
                <a:latin typeface="Calibri" pitchFamily="34" charset="0"/>
                <a:ea typeface="Calibri" pitchFamily="34" charset="-122"/>
                <a:cs typeface="Calibri" pitchFamily="34" charset="-120"/>
              </a:rPr>
              <a:t>→</a:t>
            </a:r>
            <a:endParaRPr lang="en-US" sz="1200" dirty="0"/>
          </a:p>
        </p:txBody>
      </p:sp>
      <p:sp>
        <p:nvSpPr>
          <p:cNvPr id="52" name="Shape 49"/>
          <p:cNvSpPr/>
          <p:nvPr/>
        </p:nvSpPr>
        <p:spPr>
          <a:xfrm>
            <a:off x="7589520" y="868680"/>
            <a:ext cx="1069848" cy="2651760"/>
          </a:xfrm>
          <a:prstGeom prst="rect">
            <a:avLst/>
          </a:prstGeom>
          <a:solidFill>
            <a:srgbClr val="7E3AF2"/>
          </a:solidFill>
          <a:ln w="12700">
            <a:solidFill>
              <a:srgbClr val="7E3AF2"/>
            </a:solidFill>
            <a:prstDash val="solid"/>
          </a:ln>
          <a:effectLst>
            <a:outerShdw sx="100000" sy="100000" kx="0" ky="0" algn="bl" rotWithShape="0" blurRad="101600" dist="38100" dir="8100000">
              <a:srgbClr val="000000">
                <a:alpha val="12000"/>
              </a:srgbClr>
            </a:outerShdw>
          </a:effectLst>
        </p:spPr>
      </p:sp>
      <p:sp>
        <p:nvSpPr>
          <p:cNvPr id="53" name="Shape 50"/>
          <p:cNvSpPr/>
          <p:nvPr/>
        </p:nvSpPr>
        <p:spPr>
          <a:xfrm>
            <a:off x="7936992" y="914400"/>
            <a:ext cx="384048" cy="384048"/>
          </a:xfrm>
          <a:prstGeom prst="ellipse">
            <a:avLst/>
          </a:prstGeom>
          <a:solidFill>
            <a:srgbClr val="FFFFFF"/>
          </a:solidFill>
          <a:ln w="12700">
            <a:solidFill>
              <a:srgbClr val="FFFFFF"/>
            </a:solidFill>
            <a:prstDash val="solid"/>
          </a:ln>
        </p:spPr>
      </p:sp>
      <p:sp>
        <p:nvSpPr>
          <p:cNvPr id="54" name="Text 51"/>
          <p:cNvSpPr/>
          <p:nvPr/>
        </p:nvSpPr>
        <p:spPr>
          <a:xfrm>
            <a:off x="7936992" y="905256"/>
            <a:ext cx="384048" cy="384048"/>
          </a:xfrm>
          <a:prstGeom prst="rect">
            <a:avLst/>
          </a:prstGeom>
          <a:noFill/>
          <a:ln/>
        </p:spPr>
        <p:txBody>
          <a:bodyPr wrap="square" lIns="0" tIns="0" rIns="0" bIns="0" rtlCol="0" anchor="ctr"/>
          <a:lstStyle/>
          <a:p>
            <a:pPr algn="ctr" indent="0" marL="0">
              <a:buNone/>
            </a:pPr>
            <a:r>
              <a:rPr lang="en-US" sz="1200" b="1" dirty="0">
                <a:solidFill>
                  <a:srgbClr val="7E3AF2"/>
                </a:solidFill>
                <a:latin typeface="Calibri" pitchFamily="34" charset="0"/>
                <a:ea typeface="Calibri" pitchFamily="34" charset="-122"/>
                <a:cs typeface="Calibri" pitchFamily="34" charset="-120"/>
              </a:rPr>
              <a:t>7</a:t>
            </a:r>
            <a:endParaRPr lang="en-US" sz="1200" dirty="0"/>
          </a:p>
        </p:txBody>
      </p:sp>
      <p:sp>
        <p:nvSpPr>
          <p:cNvPr id="55" name="Text 52"/>
          <p:cNvSpPr/>
          <p:nvPr/>
        </p:nvSpPr>
        <p:spPr>
          <a:xfrm>
            <a:off x="7589520" y="1371600"/>
            <a:ext cx="1069848" cy="41148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56" name="Text 53"/>
          <p:cNvSpPr/>
          <p:nvPr/>
        </p:nvSpPr>
        <p:spPr>
          <a:xfrm>
            <a:off x="7589520" y="1810512"/>
            <a:ext cx="1069848" cy="274320"/>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CITOYEN</a:t>
            </a:r>
            <a:endParaRPr lang="en-US" sz="850" dirty="0"/>
          </a:p>
        </p:txBody>
      </p:sp>
      <p:sp>
        <p:nvSpPr>
          <p:cNvPr id="57" name="Text 54"/>
          <p:cNvSpPr/>
          <p:nvPr/>
        </p:nvSpPr>
        <p:spPr>
          <a:xfrm>
            <a:off x="7644384" y="2121408"/>
            <a:ext cx="960120" cy="1234440"/>
          </a:xfrm>
          <a:prstGeom prst="rect">
            <a:avLst/>
          </a:prstGeom>
          <a:noFill/>
          <a:ln/>
        </p:spPr>
        <p:txBody>
          <a:bodyPr wrap="square" lIns="0" tIns="0" rIns="0" bIns="0" rtlCol="0" anchor="ctr"/>
          <a:lstStyle/>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Visible sur app</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KOMOE &amp; Etherscan</a:t>
            </a:r>
            <a:endParaRPr lang="en-US" sz="800" dirty="0"/>
          </a:p>
          <a:p>
            <a:pPr algn="ctr" indent="0" marL="0">
              <a:lnSpc>
                <a:spcPct val="135000"/>
              </a:lnSpc>
              <a:buNone/>
            </a:pPr>
            <a:r>
              <a:rPr lang="en-US" sz="800" dirty="0">
                <a:solidFill>
                  <a:srgbClr val="FFFFFF"/>
                </a:solidFill>
                <a:latin typeface="Calibri" pitchFamily="34" charset="0"/>
                <a:ea typeface="Calibri" pitchFamily="34" charset="-122"/>
                <a:cs typeface="Calibri" pitchFamily="34" charset="-120"/>
              </a:rPr>
              <a:t>24h/24</a:t>
            </a:r>
            <a:endParaRPr lang="en-US" sz="800" dirty="0"/>
          </a:p>
        </p:txBody>
      </p:sp>
      <p:sp>
        <p:nvSpPr>
          <p:cNvPr id="58" name="Shape 55"/>
          <p:cNvSpPr/>
          <p:nvPr/>
        </p:nvSpPr>
        <p:spPr>
          <a:xfrm>
            <a:off x="292608" y="3703320"/>
            <a:ext cx="8558784" cy="411480"/>
          </a:xfrm>
          <a:prstGeom prst="rect">
            <a:avLst/>
          </a:prstGeom>
          <a:solidFill>
            <a:srgbClr val="1A4E8F">
              <a:alpha val="40000"/>
            </a:srgbClr>
          </a:solidFill>
          <a:ln w="6350">
            <a:solidFill>
              <a:srgbClr val="2E6BC4"/>
            </a:solidFill>
            <a:prstDash val="solid"/>
          </a:ln>
        </p:spPr>
      </p:sp>
      <p:sp>
        <p:nvSpPr>
          <p:cNvPr id="59" name="Text 56"/>
          <p:cNvSpPr/>
          <p:nvPr/>
        </p:nvSpPr>
        <p:spPr>
          <a:xfrm>
            <a:off x="365760" y="3730752"/>
            <a:ext cx="8412480"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Durée totale du cycle : &lt; 30 secondes  ·  Ethereum Sepolia testnet  ·  ~12s par bloc sur Mainnet  ·  Coût : &lt; 0,01 USD par transaction sur L2 (Polygon)</a:t>
            </a:r>
            <a:endParaRPr lang="en-US" sz="900" dirty="0"/>
          </a:p>
        </p:txBody>
      </p:sp>
      <p:sp>
        <p:nvSpPr>
          <p:cNvPr id="60" name="Text 57"/>
          <p:cNvSpPr/>
          <p:nvPr/>
        </p:nvSpPr>
        <p:spPr>
          <a:xfrm>
            <a:off x="292608" y="4224528"/>
            <a:ext cx="8558784" cy="228600"/>
          </a:xfrm>
          <a:prstGeom prst="rect">
            <a:avLst/>
          </a:prstGeom>
          <a:noFill/>
          <a:ln/>
        </p:spPr>
        <p:txBody>
          <a:bodyPr wrap="square" lIns="0" tIns="0" rIns="0" bIns="0" rtlCol="0" anchor="ctr"/>
          <a:lstStyle/>
          <a:p>
            <a:pPr algn="ctr" indent="0" marL="0">
              <a:buNone/>
            </a:pPr>
            <a:r>
              <a:rPr lang="en-US" sz="900" i="1" dirty="0">
                <a:solidFill>
                  <a:srgbClr val="EBF3FC"/>
                </a:solidFill>
                <a:latin typeface="Calibri" pitchFamily="34" charset="0"/>
                <a:ea typeface="Calibri" pitchFamily="34" charset="-122"/>
                <a:cs typeface="Calibri" pitchFamily="34" charset="-120"/>
              </a:rPr>
              <a:t>Le citoyen peut coller le hash sur etherscan.io pour vérification indépendante — sans aucune connaissance technique.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 Smart Contract BudgetLedger.sol — Le cœur technique de KOMOE</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Solidity ^0.8.20 · Déployé sur Ethereum Sepolia (Phase 2) → Mainnet / Polygon (Phase 3)</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6 / 10</a:t>
            </a:r>
            <a:endParaRPr lang="en-US" sz="750" dirty="0"/>
          </a:p>
        </p:txBody>
      </p:sp>
      <p:sp>
        <p:nvSpPr>
          <p:cNvPr id="10" name="Shape 7"/>
          <p:cNvSpPr/>
          <p:nvPr/>
        </p:nvSpPr>
        <p:spPr>
          <a:xfrm>
            <a:off x="274320" y="822960"/>
            <a:ext cx="3840480" cy="3977640"/>
          </a:xfrm>
          <a:prstGeom prst="rect">
            <a:avLst/>
          </a:prstGeom>
          <a:solidFill>
            <a:srgbClr val="0B1F3A"/>
          </a:solidFill>
          <a:ln w="12700">
            <a:solidFill>
              <a:srgbClr val="0B1F3A"/>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411480" y="896112"/>
            <a:ext cx="3566160" cy="274320"/>
          </a:xfrm>
          <a:prstGeom prst="rect">
            <a:avLst/>
          </a:prstGeom>
          <a:noFill/>
          <a:ln/>
        </p:spPr>
        <p:txBody>
          <a:bodyPr wrap="square" lIns="0" tIns="0" rIns="0" bIns="0" rtlCol="0" anchor="ctr"/>
          <a:lstStyle/>
          <a:p>
            <a:pPr indent="0" marL="0">
              <a:buNone/>
            </a:pPr>
            <a:r>
              <a:rPr lang="en-US" sz="1100" b="1" dirty="0">
                <a:solidFill>
                  <a:srgbClr val="E8690E"/>
                </a:solidFill>
                <a:latin typeface="Calibri" pitchFamily="34" charset="0"/>
                <a:ea typeface="Calibri" pitchFamily="34" charset="-122"/>
                <a:cs typeface="Calibri" pitchFamily="34" charset="-120"/>
              </a:rPr>
              <a:t>Qu'est-ce qu'un smart contract ?</a:t>
            </a:r>
            <a:endParaRPr lang="en-US" sz="1100" dirty="0"/>
          </a:p>
        </p:txBody>
      </p:sp>
      <p:sp>
        <p:nvSpPr>
          <p:cNvPr id="12" name="Text 9"/>
          <p:cNvSpPr/>
          <p:nvPr/>
        </p:nvSpPr>
        <p:spPr>
          <a:xfrm>
            <a:off x="411480" y="1234440"/>
            <a:ext cx="3566160" cy="2011680"/>
          </a:xfrm>
          <a:prstGeom prst="rect">
            <a:avLst/>
          </a:prstGeom>
          <a:noFill/>
          <a:ln/>
        </p:spPr>
        <p:txBody>
          <a:bodyPr wrap="square" lIns="0" tIns="0" rIns="0" bIns="0" rtlCol="0" anchor="ctr"/>
          <a:lstStyle/>
          <a:p>
            <a:pPr indent="0" marL="0">
              <a:lnSpc>
                <a:spcPct val="145000"/>
              </a:lnSpc>
              <a:buNone/>
            </a:pPr>
            <a:r>
              <a:rPr lang="en-US" sz="950" dirty="0">
                <a:solidFill>
                  <a:srgbClr val="FFFFFF"/>
                </a:solidFill>
                <a:latin typeface="Calibri" pitchFamily="34" charset="0"/>
                <a:ea typeface="Calibri" pitchFamily="34" charset="-122"/>
                <a:cs typeface="Calibri" pitchFamily="34" charset="-120"/>
              </a:rPr>
              <a:t>Un smart contract est un programme autonome déployé sur la blockchain. Une fois déployé, son code est immuable et s'exécute automatiquement sans aucun intermédiaire.</a:t>
            </a:r>
            <a:endParaRPr lang="en-US" sz="950" dirty="0"/>
          </a:p>
          <a:p>
            <a:pPr indent="0" marL="0">
              <a:lnSpc>
                <a:spcPct val="145000"/>
              </a:lnSpc>
              <a:buNone/>
            </a:pPr>
            <a:endParaRPr lang="en-US" sz="950" dirty="0"/>
          </a:p>
          <a:p>
            <a:pPr indent="0" marL="0">
              <a:lnSpc>
                <a:spcPct val="145000"/>
              </a:lnSpc>
              <a:buNone/>
            </a:pPr>
            <a:r>
              <a:rPr lang="en-US" sz="950" dirty="0">
                <a:solidFill>
                  <a:srgbClr val="FFFFFF"/>
                </a:solidFill>
                <a:latin typeface="Calibri" pitchFamily="34" charset="0"/>
                <a:ea typeface="Calibri" pitchFamily="34" charset="-122"/>
                <a:cs typeface="Calibri" pitchFamily="34" charset="-120"/>
              </a:rPr>
              <a:t>BudgetLedger définit les règles de l'enregistrement budgétaire. Il ne peut pas être modifié par la commune, par l'équipe de développement, ni par qui que ce soit.</a:t>
            </a:r>
            <a:endParaRPr lang="en-US" sz="950" dirty="0"/>
          </a:p>
          <a:p>
            <a:pPr indent="0" marL="0">
              <a:lnSpc>
                <a:spcPct val="145000"/>
              </a:lnSpc>
              <a:buNone/>
            </a:pPr>
            <a:endParaRPr lang="en-US" sz="950" dirty="0"/>
          </a:p>
          <a:p>
            <a:pPr indent="0" marL="0">
              <a:lnSpc>
                <a:spcPct val="145000"/>
              </a:lnSpc>
              <a:buNone/>
            </a:pPr>
            <a:r>
              <a:rPr lang="en-US" sz="950" dirty="0">
                <a:solidFill>
                  <a:srgbClr val="FFFFFF"/>
                </a:solidFill>
                <a:latin typeface="Calibri" pitchFamily="34" charset="0"/>
                <a:ea typeface="Calibri" pitchFamily="34" charset="-122"/>
                <a:cs typeface="Calibri" pitchFamily="34" charset="-120"/>
              </a:rPr>
              <a:t>Chaque appel à la fonction recordEntry() crée un enregistrement permanent associé à la signature cryptographique du responsable communal.</a:t>
            </a:r>
            <a:endParaRPr lang="en-US" sz="950" dirty="0"/>
          </a:p>
        </p:txBody>
      </p:sp>
      <p:sp>
        <p:nvSpPr>
          <p:cNvPr id="13" name="Shape 10"/>
          <p:cNvSpPr/>
          <p:nvPr/>
        </p:nvSpPr>
        <p:spPr>
          <a:xfrm>
            <a:off x="411480" y="3337560"/>
            <a:ext cx="3566160" cy="338328"/>
          </a:xfrm>
          <a:prstGeom prst="rect">
            <a:avLst/>
          </a:prstGeom>
          <a:solidFill>
            <a:srgbClr val="1A4E8F"/>
          </a:solidFill>
          <a:ln w="3810">
            <a:solidFill>
              <a:srgbClr val="2E6BC4"/>
            </a:solidFill>
            <a:prstDash val="solid"/>
          </a:ln>
        </p:spPr>
      </p:sp>
      <p:sp>
        <p:nvSpPr>
          <p:cNvPr id="14" name="Text 11"/>
          <p:cNvSpPr/>
          <p:nvPr/>
        </p:nvSpPr>
        <p:spPr>
          <a:xfrm>
            <a:off x="475488" y="3355848"/>
            <a:ext cx="1234440" cy="301752"/>
          </a:xfrm>
          <a:prstGeom prst="rect">
            <a:avLst/>
          </a:prstGeom>
          <a:noFill/>
          <a:ln/>
        </p:spPr>
        <p:txBody>
          <a:bodyPr wrap="square" lIns="0" tIns="0" rIns="0" bIns="0" rtlCol="0" anchor="ctr"/>
          <a:lstStyle/>
          <a:p>
            <a:pPr indent="0" marL="0">
              <a:buNone/>
            </a:pPr>
            <a:r>
              <a:rPr lang="en-US" sz="900" b="1" dirty="0">
                <a:solidFill>
                  <a:srgbClr val="E8690E"/>
                </a:solidFill>
                <a:latin typeface="Calibri" pitchFamily="34" charset="0"/>
                <a:ea typeface="Calibri" pitchFamily="34" charset="-122"/>
                <a:cs typeface="Calibri" pitchFamily="34" charset="-120"/>
              </a:rPr>
              <a:t>⬡  Immuabilité</a:t>
            </a:r>
            <a:endParaRPr lang="en-US" sz="900" dirty="0"/>
          </a:p>
        </p:txBody>
      </p:sp>
      <p:sp>
        <p:nvSpPr>
          <p:cNvPr id="15" name="Text 12"/>
          <p:cNvSpPr/>
          <p:nvPr/>
        </p:nvSpPr>
        <p:spPr>
          <a:xfrm>
            <a:off x="1783080" y="3355848"/>
            <a:ext cx="2148840" cy="30175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Code non modifiable après déploiement</a:t>
            </a:r>
            <a:endParaRPr lang="en-US" sz="850" dirty="0"/>
          </a:p>
        </p:txBody>
      </p:sp>
      <p:sp>
        <p:nvSpPr>
          <p:cNvPr id="16" name="Shape 13"/>
          <p:cNvSpPr/>
          <p:nvPr/>
        </p:nvSpPr>
        <p:spPr>
          <a:xfrm>
            <a:off x="411480" y="3730752"/>
            <a:ext cx="3566160" cy="338328"/>
          </a:xfrm>
          <a:prstGeom prst="rect">
            <a:avLst/>
          </a:prstGeom>
          <a:solidFill>
            <a:srgbClr val="1A4E8F"/>
          </a:solidFill>
          <a:ln w="3810">
            <a:solidFill>
              <a:srgbClr val="2E6BC4"/>
            </a:solidFill>
            <a:prstDash val="solid"/>
          </a:ln>
        </p:spPr>
      </p:sp>
      <p:sp>
        <p:nvSpPr>
          <p:cNvPr id="17" name="Text 14"/>
          <p:cNvSpPr/>
          <p:nvPr/>
        </p:nvSpPr>
        <p:spPr>
          <a:xfrm>
            <a:off x="475488" y="3749040"/>
            <a:ext cx="1234440" cy="301752"/>
          </a:xfrm>
          <a:prstGeom prst="rect">
            <a:avLst/>
          </a:prstGeom>
          <a:noFill/>
          <a:ln/>
        </p:spPr>
        <p:txBody>
          <a:bodyPr wrap="square" lIns="0" tIns="0" rIns="0" bIns="0" rtlCol="0" anchor="ctr"/>
          <a:lstStyle/>
          <a:p>
            <a:pPr indent="0" marL="0">
              <a:buNone/>
            </a:pPr>
            <a:r>
              <a:rPr lang="en-US" sz="900" b="1" dirty="0">
                <a:solidFill>
                  <a:srgbClr val="E8690E"/>
                </a:solidFill>
                <a:latin typeface="Calibri" pitchFamily="34" charset="0"/>
                <a:ea typeface="Calibri" pitchFamily="34" charset="-122"/>
                <a:cs typeface="Calibri" pitchFamily="34" charset="-120"/>
              </a:rPr>
              <a:t>⬡  Autonomie</a:t>
            </a:r>
            <a:endParaRPr lang="en-US" sz="900" dirty="0"/>
          </a:p>
        </p:txBody>
      </p:sp>
      <p:sp>
        <p:nvSpPr>
          <p:cNvPr id="18" name="Text 15"/>
          <p:cNvSpPr/>
          <p:nvPr/>
        </p:nvSpPr>
        <p:spPr>
          <a:xfrm>
            <a:off x="1783080" y="3749040"/>
            <a:ext cx="2148840" cy="30175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Aucun serveur centralisé nécessaire</a:t>
            </a:r>
            <a:endParaRPr lang="en-US" sz="850" dirty="0"/>
          </a:p>
        </p:txBody>
      </p:sp>
      <p:sp>
        <p:nvSpPr>
          <p:cNvPr id="19" name="Shape 16"/>
          <p:cNvSpPr/>
          <p:nvPr/>
        </p:nvSpPr>
        <p:spPr>
          <a:xfrm>
            <a:off x="411480" y="4123944"/>
            <a:ext cx="3566160" cy="338328"/>
          </a:xfrm>
          <a:prstGeom prst="rect">
            <a:avLst/>
          </a:prstGeom>
          <a:solidFill>
            <a:srgbClr val="1A4E8F"/>
          </a:solidFill>
          <a:ln w="3810">
            <a:solidFill>
              <a:srgbClr val="2E6BC4"/>
            </a:solidFill>
            <a:prstDash val="solid"/>
          </a:ln>
        </p:spPr>
      </p:sp>
      <p:sp>
        <p:nvSpPr>
          <p:cNvPr id="20" name="Text 17"/>
          <p:cNvSpPr/>
          <p:nvPr/>
        </p:nvSpPr>
        <p:spPr>
          <a:xfrm>
            <a:off x="475488" y="4142232"/>
            <a:ext cx="1234440" cy="301752"/>
          </a:xfrm>
          <a:prstGeom prst="rect">
            <a:avLst/>
          </a:prstGeom>
          <a:noFill/>
          <a:ln/>
        </p:spPr>
        <p:txBody>
          <a:bodyPr wrap="square" lIns="0" tIns="0" rIns="0" bIns="0" rtlCol="0" anchor="ctr"/>
          <a:lstStyle/>
          <a:p>
            <a:pPr indent="0" marL="0">
              <a:buNone/>
            </a:pPr>
            <a:r>
              <a:rPr lang="en-US" sz="900" b="1" dirty="0">
                <a:solidFill>
                  <a:srgbClr val="E8690E"/>
                </a:solidFill>
                <a:latin typeface="Calibri" pitchFamily="34" charset="0"/>
                <a:ea typeface="Calibri" pitchFamily="34" charset="-122"/>
                <a:cs typeface="Calibri" pitchFamily="34" charset="-120"/>
              </a:rPr>
              <a:t>⬡  Transparence</a:t>
            </a:r>
            <a:endParaRPr lang="en-US" sz="900" dirty="0"/>
          </a:p>
        </p:txBody>
      </p:sp>
      <p:sp>
        <p:nvSpPr>
          <p:cNvPr id="21" name="Text 18"/>
          <p:cNvSpPr/>
          <p:nvPr/>
        </p:nvSpPr>
        <p:spPr>
          <a:xfrm>
            <a:off x="1783080" y="4142232"/>
            <a:ext cx="2148840" cy="30175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Code source public &amp; vérifiable</a:t>
            </a:r>
            <a:endParaRPr lang="en-US" sz="850" dirty="0"/>
          </a:p>
        </p:txBody>
      </p:sp>
      <p:sp>
        <p:nvSpPr>
          <p:cNvPr id="22" name="Shape 19"/>
          <p:cNvSpPr/>
          <p:nvPr/>
        </p:nvSpPr>
        <p:spPr>
          <a:xfrm>
            <a:off x="4389120" y="822960"/>
            <a:ext cx="4480560" cy="3977640"/>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23" name="Text 20"/>
          <p:cNvSpPr/>
          <p:nvPr/>
        </p:nvSpPr>
        <p:spPr>
          <a:xfrm>
            <a:off x="4526280" y="896112"/>
            <a:ext cx="4206240" cy="256032"/>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Fonctions du contrat BudgetLedger</a:t>
            </a:r>
            <a:endParaRPr lang="en-US" sz="1100" dirty="0"/>
          </a:p>
        </p:txBody>
      </p:sp>
      <p:sp>
        <p:nvSpPr>
          <p:cNvPr id="24" name="Shape 21"/>
          <p:cNvSpPr/>
          <p:nvPr/>
        </p:nvSpPr>
        <p:spPr>
          <a:xfrm>
            <a:off x="4526280" y="1234440"/>
            <a:ext cx="4206240" cy="438912"/>
          </a:xfrm>
          <a:prstGeom prst="rect">
            <a:avLst/>
          </a:prstGeom>
          <a:solidFill>
            <a:srgbClr val="EBF3FC"/>
          </a:solidFill>
          <a:ln w="3810">
            <a:solidFill>
              <a:srgbClr val="CBD5E1"/>
            </a:solidFill>
            <a:prstDash val="solid"/>
          </a:ln>
        </p:spPr>
      </p:sp>
      <p:sp>
        <p:nvSpPr>
          <p:cNvPr id="25" name="Text 22"/>
          <p:cNvSpPr/>
          <p:nvPr/>
        </p:nvSpPr>
        <p:spPr>
          <a:xfrm>
            <a:off x="4572000" y="1271016"/>
            <a:ext cx="1371600" cy="182880"/>
          </a:xfrm>
          <a:prstGeom prst="rect">
            <a:avLst/>
          </a:prstGeom>
          <a:noFill/>
          <a:ln/>
        </p:spPr>
        <p:txBody>
          <a:bodyPr wrap="square" lIns="0" tIns="0" rIns="0" bIns="0" rtlCol="0" anchor="ctr"/>
          <a:lstStyle/>
          <a:p>
            <a:pPr indent="0" marL="0">
              <a:buNone/>
            </a:pPr>
            <a:r>
              <a:rPr lang="en-US" sz="850" b="1" dirty="0">
                <a:solidFill>
                  <a:srgbClr val="E8690E"/>
                </a:solidFill>
                <a:latin typeface="Calibri" pitchFamily="34" charset="0"/>
                <a:ea typeface="Calibri" pitchFamily="34" charset="-122"/>
                <a:cs typeface="Calibri" pitchFamily="34" charset="-120"/>
              </a:rPr>
              <a:t>recordEntry()</a:t>
            </a:r>
            <a:endParaRPr lang="en-US" sz="850" dirty="0"/>
          </a:p>
        </p:txBody>
      </p:sp>
      <p:sp>
        <p:nvSpPr>
          <p:cNvPr id="26" name="Text 23"/>
          <p:cNvSpPr/>
          <p:nvPr/>
        </p:nvSpPr>
        <p:spPr>
          <a:xfrm>
            <a:off x="4572000" y="1463040"/>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Enregistre une transaction (dépense/recette) avec hash, montant, catégorie, timestamp, signer</a:t>
            </a:r>
            <a:endParaRPr lang="en-US" sz="800" dirty="0"/>
          </a:p>
        </p:txBody>
      </p:sp>
      <p:sp>
        <p:nvSpPr>
          <p:cNvPr id="27" name="Shape 24"/>
          <p:cNvSpPr/>
          <p:nvPr/>
        </p:nvSpPr>
        <p:spPr>
          <a:xfrm>
            <a:off x="4526280" y="1728216"/>
            <a:ext cx="4206240" cy="438912"/>
          </a:xfrm>
          <a:prstGeom prst="rect">
            <a:avLst/>
          </a:prstGeom>
          <a:solidFill>
            <a:srgbClr val="FFFFFF"/>
          </a:solidFill>
          <a:ln w="3810">
            <a:solidFill>
              <a:srgbClr val="CBD5E1"/>
            </a:solidFill>
            <a:prstDash val="solid"/>
          </a:ln>
        </p:spPr>
      </p:sp>
      <p:sp>
        <p:nvSpPr>
          <p:cNvPr id="28" name="Text 25"/>
          <p:cNvSpPr/>
          <p:nvPr/>
        </p:nvSpPr>
        <p:spPr>
          <a:xfrm>
            <a:off x="4572000" y="1764792"/>
            <a:ext cx="1371600" cy="182880"/>
          </a:xfrm>
          <a:prstGeom prst="rect">
            <a:avLst/>
          </a:prstGeom>
          <a:noFill/>
          <a:ln/>
        </p:spPr>
        <p:txBody>
          <a:bodyPr wrap="square" lIns="0" tIns="0" rIns="0" bIns="0" rtlCol="0" anchor="ctr"/>
          <a:lstStyle/>
          <a:p>
            <a:pPr indent="0" marL="0">
              <a:buNone/>
            </a:pPr>
            <a:r>
              <a:rPr lang="en-US" sz="850" b="1" dirty="0">
                <a:solidFill>
                  <a:srgbClr val="2E6BC4"/>
                </a:solidFill>
                <a:latin typeface="Calibri" pitchFamily="34" charset="0"/>
                <a:ea typeface="Calibri" pitchFamily="34" charset="-122"/>
                <a:cs typeface="Calibri" pitchFamily="34" charset="-120"/>
              </a:rPr>
              <a:t>getEntry(id)</a:t>
            </a:r>
            <a:endParaRPr lang="en-US" sz="850" dirty="0"/>
          </a:p>
        </p:txBody>
      </p:sp>
      <p:sp>
        <p:nvSpPr>
          <p:cNvPr id="29" name="Text 26"/>
          <p:cNvSpPr/>
          <p:nvPr/>
        </p:nvSpPr>
        <p:spPr>
          <a:xfrm>
            <a:off x="4572000" y="1956816"/>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Retourne la struct BudgetEntry immuable stockée en mapping on-chain</a:t>
            </a:r>
            <a:endParaRPr lang="en-US" sz="800" dirty="0"/>
          </a:p>
        </p:txBody>
      </p:sp>
      <p:sp>
        <p:nvSpPr>
          <p:cNvPr id="30" name="Shape 27"/>
          <p:cNvSpPr/>
          <p:nvPr/>
        </p:nvSpPr>
        <p:spPr>
          <a:xfrm>
            <a:off x="4526280" y="2221992"/>
            <a:ext cx="4206240" cy="438912"/>
          </a:xfrm>
          <a:prstGeom prst="rect">
            <a:avLst/>
          </a:prstGeom>
          <a:solidFill>
            <a:srgbClr val="EBF3FC"/>
          </a:solidFill>
          <a:ln w="3810">
            <a:solidFill>
              <a:srgbClr val="CBD5E1"/>
            </a:solidFill>
            <a:prstDash val="solid"/>
          </a:ln>
        </p:spPr>
      </p:sp>
      <p:sp>
        <p:nvSpPr>
          <p:cNvPr id="31" name="Text 28"/>
          <p:cNvSpPr/>
          <p:nvPr/>
        </p:nvSpPr>
        <p:spPr>
          <a:xfrm>
            <a:off x="4572000" y="2258568"/>
            <a:ext cx="1371600" cy="182880"/>
          </a:xfrm>
          <a:prstGeom prst="rect">
            <a:avLst/>
          </a:prstGeom>
          <a:noFill/>
          <a:ln/>
        </p:spPr>
        <p:txBody>
          <a:bodyPr wrap="square" lIns="0" tIns="0" rIns="0" bIns="0" rtlCol="0" anchor="ctr"/>
          <a:lstStyle/>
          <a:p>
            <a:pPr indent="0" marL="0">
              <a:buNone/>
            </a:pPr>
            <a:r>
              <a:rPr lang="en-US" sz="850" b="1" dirty="0">
                <a:solidFill>
                  <a:srgbClr val="0E7C86"/>
                </a:solidFill>
                <a:latin typeface="Calibri" pitchFamily="34" charset="0"/>
                <a:ea typeface="Calibri" pitchFamily="34" charset="-122"/>
                <a:cs typeface="Calibri" pitchFamily="34" charset="-120"/>
              </a:rPr>
              <a:t>verifyEntry()</a:t>
            </a:r>
            <a:endParaRPr lang="en-US" sz="850" dirty="0"/>
          </a:p>
        </p:txBody>
      </p:sp>
      <p:sp>
        <p:nvSpPr>
          <p:cNvPr id="32" name="Text 29"/>
          <p:cNvSpPr/>
          <p:nvPr/>
        </p:nvSpPr>
        <p:spPr>
          <a:xfrm>
            <a:off x="4572000" y="2450592"/>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Vérifie un hash — retourne les metadata si connu (usage auditeurs)</a:t>
            </a:r>
            <a:endParaRPr lang="en-US" sz="800" dirty="0"/>
          </a:p>
        </p:txBody>
      </p:sp>
      <p:sp>
        <p:nvSpPr>
          <p:cNvPr id="33" name="Shape 30"/>
          <p:cNvSpPr/>
          <p:nvPr/>
        </p:nvSpPr>
        <p:spPr>
          <a:xfrm>
            <a:off x="4526280" y="2715768"/>
            <a:ext cx="4206240" cy="438912"/>
          </a:xfrm>
          <a:prstGeom prst="rect">
            <a:avLst/>
          </a:prstGeom>
          <a:solidFill>
            <a:srgbClr val="FFFFFF"/>
          </a:solidFill>
          <a:ln w="3810">
            <a:solidFill>
              <a:srgbClr val="CBD5E1"/>
            </a:solidFill>
            <a:prstDash val="solid"/>
          </a:ln>
        </p:spPr>
      </p:sp>
      <p:sp>
        <p:nvSpPr>
          <p:cNvPr id="34" name="Text 31"/>
          <p:cNvSpPr/>
          <p:nvPr/>
        </p:nvSpPr>
        <p:spPr>
          <a:xfrm>
            <a:off x="4572000" y="2752344"/>
            <a:ext cx="1371600" cy="182880"/>
          </a:xfrm>
          <a:prstGeom prst="rect">
            <a:avLst/>
          </a:prstGeom>
          <a:noFill/>
          <a:ln/>
        </p:spPr>
        <p:txBody>
          <a:bodyPr wrap="square" lIns="0" tIns="0" rIns="0" bIns="0" rtlCol="0" anchor="ctr"/>
          <a:lstStyle/>
          <a:p>
            <a:pPr indent="0" marL="0">
              <a:buNone/>
            </a:pPr>
            <a:r>
              <a:rPr lang="en-US" sz="850" b="1" dirty="0">
                <a:solidFill>
                  <a:srgbClr val="1A5C38"/>
                </a:solidFill>
                <a:latin typeface="Calibri" pitchFamily="34" charset="0"/>
                <a:ea typeface="Calibri" pitchFamily="34" charset="-122"/>
                <a:cs typeface="Calibri" pitchFamily="34" charset="-120"/>
              </a:rPr>
              <a:t>getByPeriod()</a:t>
            </a:r>
            <a:endParaRPr lang="en-US" sz="850" dirty="0"/>
          </a:p>
        </p:txBody>
      </p:sp>
      <p:sp>
        <p:nvSpPr>
          <p:cNvPr id="35" name="Text 32"/>
          <p:cNvSpPr/>
          <p:nvPr/>
        </p:nvSpPr>
        <p:spPr>
          <a:xfrm>
            <a:off x="4572000" y="2944368"/>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Filtre les entrées sur une plage de timestamps Unix</a:t>
            </a:r>
            <a:endParaRPr lang="en-US" sz="800" dirty="0"/>
          </a:p>
        </p:txBody>
      </p:sp>
      <p:sp>
        <p:nvSpPr>
          <p:cNvPr id="36" name="Shape 33"/>
          <p:cNvSpPr/>
          <p:nvPr/>
        </p:nvSpPr>
        <p:spPr>
          <a:xfrm>
            <a:off x="4526280" y="3209544"/>
            <a:ext cx="4206240" cy="438912"/>
          </a:xfrm>
          <a:prstGeom prst="rect">
            <a:avLst/>
          </a:prstGeom>
          <a:solidFill>
            <a:srgbClr val="EBF3FC"/>
          </a:solidFill>
          <a:ln w="3810">
            <a:solidFill>
              <a:srgbClr val="CBD5E1"/>
            </a:solidFill>
            <a:prstDash val="solid"/>
          </a:ln>
        </p:spPr>
      </p:sp>
      <p:sp>
        <p:nvSpPr>
          <p:cNvPr id="37" name="Text 34"/>
          <p:cNvSpPr/>
          <p:nvPr/>
        </p:nvSpPr>
        <p:spPr>
          <a:xfrm>
            <a:off x="4572000" y="3246120"/>
            <a:ext cx="1371600" cy="182880"/>
          </a:xfrm>
          <a:prstGeom prst="rect">
            <a:avLst/>
          </a:prstGeom>
          <a:noFill/>
          <a:ln/>
        </p:spPr>
        <p:txBody>
          <a:bodyPr wrap="square" lIns="0" tIns="0" rIns="0" bIns="0" rtlCol="0" anchor="ctr"/>
          <a:lstStyle/>
          <a:p>
            <a:pPr indent="0" marL="0">
              <a:buNone/>
            </a:pPr>
            <a:r>
              <a:rPr lang="en-US" sz="850" b="1" dirty="0">
                <a:solidFill>
                  <a:srgbClr val="1A4E8F"/>
                </a:solidFill>
                <a:latin typeface="Calibri" pitchFamily="34" charset="0"/>
                <a:ea typeface="Calibri" pitchFamily="34" charset="-122"/>
                <a:cs typeface="Calibri" pitchFamily="34" charset="-120"/>
              </a:rPr>
              <a:t>getByCategory()</a:t>
            </a:r>
            <a:endParaRPr lang="en-US" sz="850" dirty="0"/>
          </a:p>
        </p:txBody>
      </p:sp>
      <p:sp>
        <p:nvSpPr>
          <p:cNvPr id="38" name="Text 35"/>
          <p:cNvSpPr/>
          <p:nvPr/>
        </p:nvSpPr>
        <p:spPr>
          <a:xfrm>
            <a:off x="4572000" y="3438144"/>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Agrégat des dépenses par secteur (ODD / code catégorie)</a:t>
            </a:r>
            <a:endParaRPr lang="en-US" sz="800" dirty="0"/>
          </a:p>
        </p:txBody>
      </p:sp>
      <p:sp>
        <p:nvSpPr>
          <p:cNvPr id="39" name="Shape 36"/>
          <p:cNvSpPr/>
          <p:nvPr/>
        </p:nvSpPr>
        <p:spPr>
          <a:xfrm>
            <a:off x="4526280" y="3703320"/>
            <a:ext cx="4206240" cy="438912"/>
          </a:xfrm>
          <a:prstGeom prst="rect">
            <a:avLst/>
          </a:prstGeom>
          <a:solidFill>
            <a:srgbClr val="FFFFFF"/>
          </a:solidFill>
          <a:ln w="3810">
            <a:solidFill>
              <a:srgbClr val="CBD5E1"/>
            </a:solidFill>
            <a:prstDash val="solid"/>
          </a:ln>
        </p:spPr>
      </p:sp>
      <p:sp>
        <p:nvSpPr>
          <p:cNvPr id="40" name="Text 37"/>
          <p:cNvSpPr/>
          <p:nvPr/>
        </p:nvSpPr>
        <p:spPr>
          <a:xfrm>
            <a:off x="4572000" y="3739896"/>
            <a:ext cx="1371600" cy="182880"/>
          </a:xfrm>
          <a:prstGeom prst="rect">
            <a:avLst/>
          </a:prstGeom>
          <a:noFill/>
          <a:ln/>
        </p:spPr>
        <p:txBody>
          <a:bodyPr wrap="square" lIns="0" tIns="0" rIns="0" bIns="0" rtlCol="0" anchor="ctr"/>
          <a:lstStyle/>
          <a:p>
            <a:pPr indent="0" marL="0">
              <a:buNone/>
            </a:pPr>
            <a:r>
              <a:rPr lang="en-US" sz="850" b="1" dirty="0">
                <a:solidFill>
                  <a:srgbClr val="C95E00"/>
                </a:solidFill>
                <a:latin typeface="Calibri" pitchFamily="34" charset="0"/>
                <a:ea typeface="Calibri" pitchFamily="34" charset="-122"/>
                <a:cs typeface="Calibri" pitchFamily="34" charset="-120"/>
              </a:rPr>
              <a:t>transferOwnership()</a:t>
            </a:r>
            <a:endParaRPr lang="en-US" sz="850" dirty="0"/>
          </a:p>
        </p:txBody>
      </p:sp>
      <p:sp>
        <p:nvSpPr>
          <p:cNvPr id="41" name="Text 38"/>
          <p:cNvSpPr/>
          <p:nvPr/>
        </p:nvSpPr>
        <p:spPr>
          <a:xfrm>
            <a:off x="4572000" y="3931920"/>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Change le signataire autorisé lors d'un changement de mandat</a:t>
            </a:r>
            <a:endParaRPr lang="en-US" sz="800" dirty="0"/>
          </a:p>
        </p:txBody>
      </p:sp>
      <p:sp>
        <p:nvSpPr>
          <p:cNvPr id="42" name="Shape 39"/>
          <p:cNvSpPr/>
          <p:nvPr/>
        </p:nvSpPr>
        <p:spPr>
          <a:xfrm>
            <a:off x="4526280" y="4197096"/>
            <a:ext cx="4206240" cy="438912"/>
          </a:xfrm>
          <a:prstGeom prst="rect">
            <a:avLst/>
          </a:prstGeom>
          <a:solidFill>
            <a:srgbClr val="EBF3FC"/>
          </a:solidFill>
          <a:ln w="3810">
            <a:solidFill>
              <a:srgbClr val="CBD5E1"/>
            </a:solidFill>
            <a:prstDash val="solid"/>
          </a:ln>
        </p:spPr>
      </p:sp>
      <p:sp>
        <p:nvSpPr>
          <p:cNvPr id="43" name="Text 40"/>
          <p:cNvSpPr/>
          <p:nvPr/>
        </p:nvSpPr>
        <p:spPr>
          <a:xfrm>
            <a:off x="4572000" y="4233672"/>
            <a:ext cx="1371600" cy="182880"/>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pauseContract()</a:t>
            </a:r>
            <a:endParaRPr lang="en-US" sz="850" dirty="0"/>
          </a:p>
        </p:txBody>
      </p:sp>
      <p:sp>
        <p:nvSpPr>
          <p:cNvPr id="44" name="Text 41"/>
          <p:cNvSpPr/>
          <p:nvPr/>
        </p:nvSpPr>
        <p:spPr>
          <a:xfrm>
            <a:off x="4572000" y="4425696"/>
            <a:ext cx="4114800" cy="18288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Circuit breaker d'urgence — décision multi-signature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Architecture technique : 4 couches de confiance et d'expérience</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De l'enregistrement immuable à l'affichage citoyen — chaque couche a un rôle précis</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7 / 10</a:t>
            </a:r>
            <a:endParaRPr lang="en-US" sz="750" dirty="0"/>
          </a:p>
        </p:txBody>
      </p:sp>
      <p:sp>
        <p:nvSpPr>
          <p:cNvPr id="10" name="Shape 7"/>
          <p:cNvSpPr/>
          <p:nvPr/>
        </p:nvSpPr>
        <p:spPr>
          <a:xfrm>
            <a:off x="274320" y="859536"/>
            <a:ext cx="8595360" cy="777240"/>
          </a:xfrm>
          <a:prstGeom prst="rect">
            <a:avLst/>
          </a:prstGeom>
          <a:solidFill>
            <a:srgbClr val="C95E00"/>
          </a:solidFill>
          <a:ln w="12700">
            <a:solidFill>
              <a:srgbClr val="C95E00"/>
            </a:solidFill>
            <a:prstDash val="solid"/>
          </a:ln>
        </p:spPr>
      </p:sp>
      <p:sp>
        <p:nvSpPr>
          <p:cNvPr id="11" name="Shape 8"/>
          <p:cNvSpPr/>
          <p:nvPr/>
        </p:nvSpPr>
        <p:spPr>
          <a:xfrm>
            <a:off x="365760" y="1042416"/>
            <a:ext cx="411480" cy="411480"/>
          </a:xfrm>
          <a:prstGeom prst="ellipse">
            <a:avLst/>
          </a:prstGeom>
          <a:solidFill>
            <a:srgbClr val="FFFFFF"/>
          </a:solidFill>
          <a:ln w="12700">
            <a:solidFill>
              <a:srgbClr val="FFFFFF"/>
            </a:solidFill>
            <a:prstDash val="solid"/>
          </a:ln>
        </p:spPr>
      </p:sp>
      <p:sp>
        <p:nvSpPr>
          <p:cNvPr id="12" name="Text 9"/>
          <p:cNvSpPr/>
          <p:nvPr/>
        </p:nvSpPr>
        <p:spPr>
          <a:xfrm>
            <a:off x="365760" y="1033272"/>
            <a:ext cx="411480" cy="411480"/>
          </a:xfrm>
          <a:prstGeom prst="rect">
            <a:avLst/>
          </a:prstGeom>
          <a:noFill/>
          <a:ln/>
        </p:spPr>
        <p:txBody>
          <a:bodyPr wrap="square" lIns="0" tIns="0" rIns="0" bIns="0" rtlCol="0" anchor="ctr"/>
          <a:lstStyle/>
          <a:p>
            <a:pPr algn="ctr" indent="0" marL="0">
              <a:buNone/>
            </a:pPr>
            <a:r>
              <a:rPr lang="en-US" sz="1100" b="1" dirty="0">
                <a:solidFill>
                  <a:srgbClr val="C95E00"/>
                </a:solidFill>
                <a:latin typeface="Calibri" pitchFamily="34" charset="0"/>
                <a:ea typeface="Calibri" pitchFamily="34" charset="-122"/>
                <a:cs typeface="Calibri" pitchFamily="34" charset="-120"/>
              </a:rPr>
              <a:t>01</a:t>
            </a:r>
            <a:endParaRPr lang="en-US" sz="1100" dirty="0"/>
          </a:p>
        </p:txBody>
      </p:sp>
      <p:sp>
        <p:nvSpPr>
          <p:cNvPr id="13" name="Text 10"/>
          <p:cNvSpPr/>
          <p:nvPr/>
        </p:nvSpPr>
        <p:spPr>
          <a:xfrm>
            <a:off x="896112" y="914400"/>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Blockchain  —  Ethereum</a:t>
            </a:r>
            <a:endParaRPr lang="en-US" sz="1150" dirty="0"/>
          </a:p>
        </p:txBody>
      </p:sp>
      <p:sp>
        <p:nvSpPr>
          <p:cNvPr id="14" name="Text 11"/>
          <p:cNvSpPr/>
          <p:nvPr/>
        </p:nvSpPr>
        <p:spPr>
          <a:xfrm>
            <a:off x="896112" y="1188720"/>
            <a:ext cx="320040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Couche de confiance absolue</a:t>
            </a:r>
            <a:endParaRPr lang="en-US" sz="850" dirty="0"/>
          </a:p>
        </p:txBody>
      </p:sp>
      <p:sp>
        <p:nvSpPr>
          <p:cNvPr id="15" name="Text 12"/>
          <p:cNvSpPr/>
          <p:nvPr/>
        </p:nvSpPr>
        <p:spPr>
          <a:xfrm>
            <a:off x="4480560" y="932688"/>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Smart contract BudgetLedger.sol (Solidity ^0.8.20)</a:t>
            </a:r>
            <a:endParaRPr lang="en-US" sz="850" dirty="0"/>
          </a:p>
        </p:txBody>
      </p:sp>
      <p:sp>
        <p:nvSpPr>
          <p:cNvPr id="16" name="Text 13"/>
          <p:cNvSpPr/>
          <p:nvPr/>
        </p:nvSpPr>
        <p:spPr>
          <a:xfrm>
            <a:off x="4480560" y="1152144"/>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Déploiement Phase 2 : Sepolia testnet  ·  Phase 3 : Mainnet / Polygon L2</a:t>
            </a:r>
            <a:endParaRPr lang="en-US" sz="850" dirty="0"/>
          </a:p>
        </p:txBody>
      </p:sp>
      <p:sp>
        <p:nvSpPr>
          <p:cNvPr id="17" name="Text 14"/>
          <p:cNvSpPr/>
          <p:nvPr/>
        </p:nvSpPr>
        <p:spPr>
          <a:xfrm>
            <a:off x="4480560" y="1371600"/>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Events émis : BudgetEntryRecorded, OwnershipTransferred, ContractPaused</a:t>
            </a:r>
            <a:endParaRPr lang="en-US" sz="850" dirty="0"/>
          </a:p>
        </p:txBody>
      </p:sp>
      <p:sp>
        <p:nvSpPr>
          <p:cNvPr id="18" name="Shape 15"/>
          <p:cNvSpPr/>
          <p:nvPr/>
        </p:nvSpPr>
        <p:spPr>
          <a:xfrm>
            <a:off x="274320" y="1773936"/>
            <a:ext cx="8595360" cy="777240"/>
          </a:xfrm>
          <a:prstGeom prst="rect">
            <a:avLst/>
          </a:prstGeom>
          <a:solidFill>
            <a:srgbClr val="0E7C86">
              <a:alpha val="85000"/>
            </a:srgbClr>
          </a:solidFill>
          <a:ln w="12700">
            <a:solidFill>
              <a:srgbClr val="0E7C86"/>
            </a:solidFill>
            <a:prstDash val="solid"/>
          </a:ln>
        </p:spPr>
      </p:sp>
      <p:sp>
        <p:nvSpPr>
          <p:cNvPr id="19" name="Shape 16"/>
          <p:cNvSpPr/>
          <p:nvPr/>
        </p:nvSpPr>
        <p:spPr>
          <a:xfrm>
            <a:off x="365760" y="1956816"/>
            <a:ext cx="411480" cy="411480"/>
          </a:xfrm>
          <a:prstGeom prst="ellipse">
            <a:avLst/>
          </a:prstGeom>
          <a:solidFill>
            <a:srgbClr val="FFFFFF"/>
          </a:solidFill>
          <a:ln w="12700">
            <a:solidFill>
              <a:srgbClr val="FFFFFF"/>
            </a:solidFill>
            <a:prstDash val="solid"/>
          </a:ln>
        </p:spPr>
      </p:sp>
      <p:sp>
        <p:nvSpPr>
          <p:cNvPr id="20" name="Text 17"/>
          <p:cNvSpPr/>
          <p:nvPr/>
        </p:nvSpPr>
        <p:spPr>
          <a:xfrm>
            <a:off x="365760" y="1947672"/>
            <a:ext cx="411480" cy="411480"/>
          </a:xfrm>
          <a:prstGeom prst="rect">
            <a:avLst/>
          </a:prstGeom>
          <a:noFill/>
          <a:ln/>
        </p:spPr>
        <p:txBody>
          <a:bodyPr wrap="square" lIns="0" tIns="0" rIns="0" bIns="0" rtlCol="0" anchor="ctr"/>
          <a:lstStyle/>
          <a:p>
            <a:pPr algn="ctr" indent="0" marL="0">
              <a:buNone/>
            </a:pPr>
            <a:r>
              <a:rPr lang="en-US" sz="1100" b="1" dirty="0">
                <a:solidFill>
                  <a:srgbClr val="0E7C86"/>
                </a:solidFill>
                <a:latin typeface="Calibri" pitchFamily="34" charset="0"/>
                <a:ea typeface="Calibri" pitchFamily="34" charset="-122"/>
                <a:cs typeface="Calibri" pitchFamily="34" charset="-120"/>
              </a:rPr>
              <a:t>02</a:t>
            </a:r>
            <a:endParaRPr lang="en-US" sz="1100" dirty="0"/>
          </a:p>
        </p:txBody>
      </p:sp>
      <p:sp>
        <p:nvSpPr>
          <p:cNvPr id="21" name="Text 18"/>
          <p:cNvSpPr/>
          <p:nvPr/>
        </p:nvSpPr>
        <p:spPr>
          <a:xfrm>
            <a:off x="896112" y="1828800"/>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Indexation  —  The Graph Protocol</a:t>
            </a:r>
            <a:endParaRPr lang="en-US" sz="1150" dirty="0"/>
          </a:p>
        </p:txBody>
      </p:sp>
      <p:sp>
        <p:nvSpPr>
          <p:cNvPr id="22" name="Text 19"/>
          <p:cNvSpPr/>
          <p:nvPr/>
        </p:nvSpPr>
        <p:spPr>
          <a:xfrm>
            <a:off x="896112" y="2103120"/>
            <a:ext cx="320040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Requêtes GraphQL temps réel</a:t>
            </a:r>
            <a:endParaRPr lang="en-US" sz="850" dirty="0"/>
          </a:p>
        </p:txBody>
      </p:sp>
      <p:sp>
        <p:nvSpPr>
          <p:cNvPr id="23" name="Text 20"/>
          <p:cNvSpPr/>
          <p:nvPr/>
        </p:nvSpPr>
        <p:spPr>
          <a:xfrm>
            <a:off x="4480560" y="1847088"/>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Subgraph budget-komoe-ci indexant les events du smart contract</a:t>
            </a:r>
            <a:endParaRPr lang="en-US" sz="850" dirty="0"/>
          </a:p>
        </p:txBody>
      </p:sp>
      <p:sp>
        <p:nvSpPr>
          <p:cNvPr id="24" name="Text 21"/>
          <p:cNvSpPr/>
          <p:nvPr/>
        </p:nvSpPr>
        <p:spPr>
          <a:xfrm>
            <a:off x="4480560" y="2066544"/>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Requêtes : getEntriesByCommune() · getByCategory() · getTotalsByPeriod()</a:t>
            </a:r>
            <a:endParaRPr lang="en-US" sz="850" dirty="0"/>
          </a:p>
        </p:txBody>
      </p:sp>
      <p:sp>
        <p:nvSpPr>
          <p:cNvPr id="25" name="Text 22"/>
          <p:cNvSpPr/>
          <p:nvPr/>
        </p:nvSpPr>
        <p:spPr>
          <a:xfrm>
            <a:off x="4480560" y="2286000"/>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Mise à jour automatique à chaque nouveau bloc confirmé</a:t>
            </a:r>
            <a:endParaRPr lang="en-US" sz="850" dirty="0"/>
          </a:p>
        </p:txBody>
      </p:sp>
      <p:sp>
        <p:nvSpPr>
          <p:cNvPr id="26" name="Shape 23"/>
          <p:cNvSpPr/>
          <p:nvPr/>
        </p:nvSpPr>
        <p:spPr>
          <a:xfrm>
            <a:off x="274320" y="2688336"/>
            <a:ext cx="8595360" cy="777240"/>
          </a:xfrm>
          <a:prstGeom prst="rect">
            <a:avLst/>
          </a:prstGeom>
          <a:solidFill>
            <a:srgbClr val="2E6BC4">
              <a:alpha val="85000"/>
            </a:srgbClr>
          </a:solidFill>
          <a:ln w="12700">
            <a:solidFill>
              <a:srgbClr val="2E6BC4"/>
            </a:solidFill>
            <a:prstDash val="solid"/>
          </a:ln>
        </p:spPr>
      </p:sp>
      <p:sp>
        <p:nvSpPr>
          <p:cNvPr id="27" name="Shape 24"/>
          <p:cNvSpPr/>
          <p:nvPr/>
        </p:nvSpPr>
        <p:spPr>
          <a:xfrm>
            <a:off x="365760" y="2871216"/>
            <a:ext cx="411480" cy="411480"/>
          </a:xfrm>
          <a:prstGeom prst="ellipse">
            <a:avLst/>
          </a:prstGeom>
          <a:solidFill>
            <a:srgbClr val="FFFFFF"/>
          </a:solidFill>
          <a:ln w="12700">
            <a:solidFill>
              <a:srgbClr val="FFFFFF"/>
            </a:solidFill>
            <a:prstDash val="solid"/>
          </a:ln>
        </p:spPr>
      </p:sp>
      <p:sp>
        <p:nvSpPr>
          <p:cNvPr id="28" name="Text 25"/>
          <p:cNvSpPr/>
          <p:nvPr/>
        </p:nvSpPr>
        <p:spPr>
          <a:xfrm>
            <a:off x="365760" y="2862072"/>
            <a:ext cx="411480" cy="411480"/>
          </a:xfrm>
          <a:prstGeom prst="rect">
            <a:avLst/>
          </a:prstGeom>
          <a:noFill/>
          <a:ln/>
        </p:spPr>
        <p:txBody>
          <a:bodyPr wrap="square" lIns="0" tIns="0" rIns="0" bIns="0" rtlCol="0" anchor="ctr"/>
          <a:lstStyle/>
          <a:p>
            <a:pPr algn="ctr" indent="0" marL="0">
              <a:buNone/>
            </a:pPr>
            <a:r>
              <a:rPr lang="en-US" sz="1100" b="1" dirty="0">
                <a:solidFill>
                  <a:srgbClr val="2E6BC4"/>
                </a:solidFill>
                <a:latin typeface="Calibri" pitchFamily="34" charset="0"/>
                <a:ea typeface="Calibri" pitchFamily="34" charset="-122"/>
                <a:cs typeface="Calibri" pitchFamily="34" charset="-120"/>
              </a:rPr>
              <a:t>03</a:t>
            </a:r>
            <a:endParaRPr lang="en-US" sz="1100" dirty="0"/>
          </a:p>
        </p:txBody>
      </p:sp>
      <p:sp>
        <p:nvSpPr>
          <p:cNvPr id="29" name="Text 26"/>
          <p:cNvSpPr/>
          <p:nvPr/>
        </p:nvSpPr>
        <p:spPr>
          <a:xfrm>
            <a:off x="896112" y="2743200"/>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Backend API  —  Django REST Framework</a:t>
            </a:r>
            <a:endParaRPr lang="en-US" sz="1150" dirty="0"/>
          </a:p>
        </p:txBody>
      </p:sp>
      <p:sp>
        <p:nvSpPr>
          <p:cNvPr id="30" name="Text 27"/>
          <p:cNvSpPr/>
          <p:nvPr/>
        </p:nvSpPr>
        <p:spPr>
          <a:xfrm>
            <a:off x="896112" y="3017520"/>
            <a:ext cx="320040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Django · Smart Contracts Solidity</a:t>
            </a:r>
            <a:endParaRPr lang="en-US" sz="850" dirty="0"/>
          </a:p>
        </p:txBody>
      </p:sp>
      <p:sp>
        <p:nvSpPr>
          <p:cNvPr id="31" name="Text 28"/>
          <p:cNvSpPr/>
          <p:nvPr/>
        </p:nvSpPr>
        <p:spPr>
          <a:xfrm>
            <a:off x="4480560" y="2761488"/>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Endpoints : /api/communes · /api/transactions · /api/stats · /api/bailleurs</a:t>
            </a:r>
            <a:endParaRPr lang="en-US" sz="850" dirty="0"/>
          </a:p>
        </p:txBody>
      </p:sp>
      <p:sp>
        <p:nvSpPr>
          <p:cNvPr id="32" name="Text 29"/>
          <p:cNvSpPr/>
          <p:nvPr/>
        </p:nvSpPr>
        <p:spPr>
          <a:xfrm>
            <a:off x="4480560" y="2980944"/>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Fallback cache Redis — accès garanti même en cas de surcharge réseau</a:t>
            </a:r>
            <a:endParaRPr lang="en-US" sz="850" dirty="0"/>
          </a:p>
        </p:txBody>
      </p:sp>
      <p:sp>
        <p:nvSpPr>
          <p:cNvPr id="33" name="Text 30"/>
          <p:cNvSpPr/>
          <p:nvPr/>
        </p:nvSpPr>
        <p:spPr>
          <a:xfrm>
            <a:off x="4480560" y="3200400"/>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Auth commune : JWT signé par wallet MetaMask (zero-knowledge)</a:t>
            </a:r>
            <a:endParaRPr lang="en-US" sz="850" dirty="0"/>
          </a:p>
        </p:txBody>
      </p:sp>
      <p:sp>
        <p:nvSpPr>
          <p:cNvPr id="34" name="Shape 31"/>
          <p:cNvSpPr/>
          <p:nvPr/>
        </p:nvSpPr>
        <p:spPr>
          <a:xfrm>
            <a:off x="274320" y="3602736"/>
            <a:ext cx="8595360" cy="777240"/>
          </a:xfrm>
          <a:prstGeom prst="rect">
            <a:avLst/>
          </a:prstGeom>
          <a:solidFill>
            <a:srgbClr val="1A5C38">
              <a:alpha val="85000"/>
            </a:srgbClr>
          </a:solidFill>
          <a:ln w="12700">
            <a:solidFill>
              <a:srgbClr val="1A5C38"/>
            </a:solidFill>
            <a:prstDash val="solid"/>
          </a:ln>
        </p:spPr>
      </p:sp>
      <p:sp>
        <p:nvSpPr>
          <p:cNvPr id="35" name="Shape 32"/>
          <p:cNvSpPr/>
          <p:nvPr/>
        </p:nvSpPr>
        <p:spPr>
          <a:xfrm>
            <a:off x="365760" y="3785616"/>
            <a:ext cx="411480" cy="411480"/>
          </a:xfrm>
          <a:prstGeom prst="ellipse">
            <a:avLst/>
          </a:prstGeom>
          <a:solidFill>
            <a:srgbClr val="FFFFFF"/>
          </a:solidFill>
          <a:ln w="12700">
            <a:solidFill>
              <a:srgbClr val="FFFFFF"/>
            </a:solidFill>
            <a:prstDash val="solid"/>
          </a:ln>
        </p:spPr>
      </p:sp>
      <p:sp>
        <p:nvSpPr>
          <p:cNvPr id="36" name="Text 33"/>
          <p:cNvSpPr/>
          <p:nvPr/>
        </p:nvSpPr>
        <p:spPr>
          <a:xfrm>
            <a:off x="365760" y="3776472"/>
            <a:ext cx="411480" cy="411480"/>
          </a:xfrm>
          <a:prstGeom prst="rect">
            <a:avLst/>
          </a:prstGeom>
          <a:noFill/>
          <a:ln/>
        </p:spPr>
        <p:txBody>
          <a:bodyPr wrap="square" lIns="0" tIns="0" rIns="0" bIns="0" rtlCol="0" anchor="ctr"/>
          <a:lstStyle/>
          <a:p>
            <a:pPr algn="ctr" indent="0" marL="0">
              <a:buNone/>
            </a:pPr>
            <a:r>
              <a:rPr lang="en-US" sz="1100" b="1" dirty="0">
                <a:solidFill>
                  <a:srgbClr val="1A5C38"/>
                </a:solidFill>
                <a:latin typeface="Calibri" pitchFamily="34" charset="0"/>
                <a:ea typeface="Calibri" pitchFamily="34" charset="-122"/>
                <a:cs typeface="Calibri" pitchFamily="34" charset="-120"/>
              </a:rPr>
              <a:t>04</a:t>
            </a:r>
            <a:endParaRPr lang="en-US" sz="1100" dirty="0"/>
          </a:p>
        </p:txBody>
      </p:sp>
      <p:sp>
        <p:nvSpPr>
          <p:cNvPr id="37" name="Text 34"/>
          <p:cNvSpPr/>
          <p:nvPr/>
        </p:nvSpPr>
        <p:spPr>
          <a:xfrm>
            <a:off x="896112" y="3657600"/>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Frontend  —  Next.js 16 (Web) + Flutter (Mobile)</a:t>
            </a:r>
            <a:endParaRPr lang="en-US" sz="1150" dirty="0"/>
          </a:p>
        </p:txBody>
      </p:sp>
      <p:sp>
        <p:nvSpPr>
          <p:cNvPr id="38" name="Text 35"/>
          <p:cNvSpPr/>
          <p:nvPr/>
        </p:nvSpPr>
        <p:spPr>
          <a:xfrm>
            <a:off x="896112" y="3931920"/>
            <a:ext cx="3200400" cy="182880"/>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Web communes &amp; bailleurs · App mobile citoyens</a:t>
            </a:r>
            <a:endParaRPr lang="en-US" sz="850" dirty="0"/>
          </a:p>
        </p:txBody>
      </p:sp>
      <p:sp>
        <p:nvSpPr>
          <p:cNvPr id="39" name="Text 36"/>
          <p:cNvSpPr/>
          <p:nvPr/>
        </p:nvSpPr>
        <p:spPr>
          <a:xfrm>
            <a:off x="4480560" y="3675888"/>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Web communes &amp; institutions financières : Next.js 16 + ethers.js v6 + MetaMask</a:t>
            </a:r>
            <a:endParaRPr lang="en-US" sz="850" dirty="0"/>
          </a:p>
        </p:txBody>
      </p:sp>
      <p:sp>
        <p:nvSpPr>
          <p:cNvPr id="40" name="Text 37"/>
          <p:cNvSpPr/>
          <p:nvPr/>
        </p:nvSpPr>
        <p:spPr>
          <a:xfrm>
            <a:off x="4480560" y="3895344"/>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Mobile citoyen : Flutter · cache offline · &lt; 200 Ko/session · Tecno/Samsung 3G ivoirien</a:t>
            </a:r>
            <a:endParaRPr lang="en-US" sz="850" dirty="0"/>
          </a:p>
        </p:txBody>
      </p:sp>
      <p:sp>
        <p:nvSpPr>
          <p:cNvPr id="41" name="Text 38"/>
          <p:cNvSpPr/>
          <p:nvPr/>
        </p:nvSpPr>
        <p:spPr>
          <a:xfrm>
            <a:off x="4480560" y="4114800"/>
            <a:ext cx="452628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Dashboard citoyen : recharts + Google Maps API · 201 communes géolocalisées</a:t>
            </a:r>
            <a:endParaRPr lang="en-US" sz="850" dirty="0"/>
          </a:p>
        </p:txBody>
      </p:sp>
      <p:sp>
        <p:nvSpPr>
          <p:cNvPr id="42" name="Text 39"/>
          <p:cNvSpPr/>
          <p:nvPr/>
        </p:nvSpPr>
        <p:spPr>
          <a:xfrm>
            <a:off x="4297680" y="1664208"/>
            <a:ext cx="457200" cy="128016"/>
          </a:xfrm>
          <a:prstGeom prst="rect">
            <a:avLst/>
          </a:prstGeom>
          <a:noFill/>
          <a:ln/>
        </p:spPr>
        <p:txBody>
          <a:bodyPr wrap="square" lIns="0" tIns="0" rIns="0" bIns="0" rtlCol="0" anchor="ctr"/>
          <a:lstStyle/>
          <a:p>
            <a:pPr algn="ctr" indent="0" marL="0">
              <a:buNone/>
            </a:pPr>
            <a:r>
              <a:rPr lang="en-US" sz="1000" b="1" dirty="0">
                <a:solidFill>
                  <a:srgbClr val="E8690E"/>
                </a:solidFill>
                <a:latin typeface="Calibri" pitchFamily="34" charset="0"/>
                <a:ea typeface="Calibri" pitchFamily="34" charset="-122"/>
                <a:cs typeface="Calibri" pitchFamily="34" charset="-120"/>
              </a:rPr>
              <a:t>↓</a:t>
            </a:r>
            <a:endParaRPr lang="en-US" sz="1000" dirty="0"/>
          </a:p>
        </p:txBody>
      </p:sp>
      <p:sp>
        <p:nvSpPr>
          <p:cNvPr id="43" name="Text 40"/>
          <p:cNvSpPr/>
          <p:nvPr/>
        </p:nvSpPr>
        <p:spPr>
          <a:xfrm>
            <a:off x="4297680" y="2578608"/>
            <a:ext cx="457200" cy="128016"/>
          </a:xfrm>
          <a:prstGeom prst="rect">
            <a:avLst/>
          </a:prstGeom>
          <a:noFill/>
          <a:ln/>
        </p:spPr>
        <p:txBody>
          <a:bodyPr wrap="square" lIns="0" tIns="0" rIns="0" bIns="0" rtlCol="0" anchor="ctr"/>
          <a:lstStyle/>
          <a:p>
            <a:pPr algn="ctr" indent="0" marL="0">
              <a:buNone/>
            </a:pPr>
            <a:r>
              <a:rPr lang="en-US" sz="1000" b="1" dirty="0">
                <a:solidFill>
                  <a:srgbClr val="E8690E"/>
                </a:solidFill>
                <a:latin typeface="Calibri" pitchFamily="34" charset="0"/>
                <a:ea typeface="Calibri" pitchFamily="34" charset="-122"/>
                <a:cs typeface="Calibri" pitchFamily="34" charset="-120"/>
              </a:rPr>
              <a:t>↓</a:t>
            </a:r>
            <a:endParaRPr lang="en-US" sz="1000" dirty="0"/>
          </a:p>
        </p:txBody>
      </p:sp>
      <p:sp>
        <p:nvSpPr>
          <p:cNvPr id="44" name="Text 41"/>
          <p:cNvSpPr/>
          <p:nvPr/>
        </p:nvSpPr>
        <p:spPr>
          <a:xfrm>
            <a:off x="4297680" y="3493008"/>
            <a:ext cx="457200" cy="128016"/>
          </a:xfrm>
          <a:prstGeom prst="rect">
            <a:avLst/>
          </a:prstGeom>
          <a:noFill/>
          <a:ln/>
        </p:spPr>
        <p:txBody>
          <a:bodyPr wrap="square" lIns="0" tIns="0" rIns="0" bIns="0" rtlCol="0" anchor="ctr"/>
          <a:lstStyle/>
          <a:p>
            <a:pPr algn="ctr" indent="0" marL="0">
              <a:buNone/>
            </a:pPr>
            <a:r>
              <a:rPr lang="en-US" sz="1000" b="1" dirty="0">
                <a:solidFill>
                  <a:srgbClr val="E8690E"/>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Shape 1"/>
          <p:cNvSpPr/>
          <p:nvPr/>
        </p:nvSpPr>
        <p:spPr>
          <a:xfrm>
            <a:off x="0" y="658368"/>
            <a:ext cx="9144000" cy="32004"/>
          </a:xfrm>
          <a:prstGeom prst="rect">
            <a:avLst/>
          </a:prstGeom>
          <a:solidFill>
            <a:srgbClr val="E8690E"/>
          </a:solidFill>
          <a:ln w="12700">
            <a:solidFill>
              <a:srgbClr val="E8690E"/>
            </a:solidFill>
            <a:prstDash val="solid"/>
          </a:ln>
        </p:spPr>
      </p:sp>
      <p:sp>
        <p:nvSpPr>
          <p:cNvPr id="4" name="Text 2"/>
          <p:cNvSpPr/>
          <p:nvPr/>
        </p:nvSpPr>
        <p:spPr>
          <a:xfrm>
            <a:off x="320040" y="64008"/>
            <a:ext cx="7498080" cy="3474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Démonstration terrain : une dépense à Cocody, vérifiable par Aminata à Yopougon</a:t>
            </a:r>
            <a:endParaRPr lang="en-US" sz="1800" dirty="0"/>
          </a:p>
        </p:txBody>
      </p:sp>
      <p:sp>
        <p:nvSpPr>
          <p:cNvPr id="5" name="Text 3"/>
          <p:cNvSpPr/>
          <p:nvPr/>
        </p:nvSpPr>
        <p:spPr>
          <a:xfrm>
            <a:off x="320040" y="420624"/>
            <a:ext cx="7315200" cy="219456"/>
          </a:xfrm>
          <a:prstGeom prst="rect">
            <a:avLst/>
          </a:prstGeom>
          <a:noFill/>
          <a:ln/>
        </p:spPr>
        <p:txBody>
          <a:bodyPr wrap="square" lIns="0" tIns="0" rIns="0" bIns="0" rtlCol="0" anchor="ctr"/>
          <a:lstStyle/>
          <a:p>
            <a:pPr indent="0" marL="0">
              <a:buNone/>
            </a:pPr>
            <a:r>
              <a:rPr lang="en-US" sz="950" dirty="0">
                <a:solidFill>
                  <a:srgbClr val="EBF3FC"/>
                </a:solidFill>
                <a:latin typeface="Calibri" pitchFamily="34" charset="0"/>
                <a:ea typeface="Calibri" pitchFamily="34" charset="-122"/>
                <a:cs typeface="Calibri" pitchFamily="34" charset="-120"/>
              </a:rPr>
              <a:t>Cas concret · Commune d'Abidjan-Cocody · Exercice 2026</a:t>
            </a:r>
            <a:endParaRPr lang="en-US" sz="950" dirty="0"/>
          </a:p>
        </p:txBody>
      </p:sp>
      <p:pic>
        <p:nvPicPr>
          <p:cNvPr id="6" name="Image 0" descr="/home/claude/komoe_logo.jpg"/>
          <p:cNvPicPr>
            <a:picLocks noChangeAspect="1"/>
          </p:cNvPicPr>
          <p:nvPr/>
        </p:nvPicPr>
        <p:blipFill>
          <a:blip r:embed="rId1"/>
          <a:stretch>
            <a:fillRect/>
          </a:stretch>
        </p:blipFill>
        <p:spPr>
          <a:xfrm>
            <a:off x="8229600" y="54864"/>
            <a:ext cx="548640" cy="548640"/>
          </a:xfrm>
          <a:prstGeom prst="rect">
            <a:avLst/>
          </a:prstGeom>
        </p:spPr>
      </p:pic>
      <p:sp>
        <p:nvSpPr>
          <p:cNvPr id="7" name="Shape 4"/>
          <p:cNvSpPr/>
          <p:nvPr/>
        </p:nvSpPr>
        <p:spPr>
          <a:xfrm>
            <a:off x="0" y="4919472"/>
            <a:ext cx="9144000" cy="224028"/>
          </a:xfrm>
          <a:prstGeom prst="rect">
            <a:avLst/>
          </a:prstGeom>
          <a:solidFill>
            <a:srgbClr val="0B1F3A"/>
          </a:solidFill>
          <a:ln w="12700">
            <a:solidFill>
              <a:srgbClr val="0B1F3A"/>
            </a:solidFill>
            <a:prstDash val="solid"/>
          </a:ln>
        </p:spPr>
      </p:sp>
      <p:sp>
        <p:nvSpPr>
          <p:cNvPr id="8" name="Text 5"/>
          <p:cNvSpPr/>
          <p:nvPr/>
        </p:nvSpPr>
        <p:spPr>
          <a:xfrm>
            <a:off x="274320" y="4919472"/>
            <a:ext cx="6400800" cy="201168"/>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KOMOE · Transparence Budgétaire · MIABE Hackathon 2026</a:t>
            </a:r>
            <a:endParaRPr lang="en-US" sz="750" dirty="0"/>
          </a:p>
        </p:txBody>
      </p:sp>
      <p:sp>
        <p:nvSpPr>
          <p:cNvPr id="9" name="Text 6"/>
          <p:cNvSpPr/>
          <p:nvPr/>
        </p:nvSpPr>
        <p:spPr>
          <a:xfrm>
            <a:off x="8595360" y="4919472"/>
            <a:ext cx="365760" cy="201168"/>
          </a:xfrm>
          <a:prstGeom prst="rect">
            <a:avLst/>
          </a:prstGeom>
          <a:noFill/>
          <a:ln/>
        </p:spPr>
        <p:txBody>
          <a:bodyPr wrap="square" lIns="0" tIns="0" rIns="0" bIns="0"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8 / 10</a:t>
            </a:r>
            <a:endParaRPr lang="en-US" sz="750" dirty="0"/>
          </a:p>
        </p:txBody>
      </p:sp>
      <p:sp>
        <p:nvSpPr>
          <p:cNvPr id="10" name="Shape 7"/>
          <p:cNvSpPr/>
          <p:nvPr/>
        </p:nvSpPr>
        <p:spPr>
          <a:xfrm>
            <a:off x="274320" y="841248"/>
            <a:ext cx="2560320" cy="3913632"/>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274320" y="841248"/>
            <a:ext cx="2560320" cy="292608"/>
          </a:xfrm>
          <a:prstGeom prst="rect">
            <a:avLst/>
          </a:prstGeom>
          <a:solidFill>
            <a:srgbClr val="0B1F3A"/>
          </a:solidFill>
          <a:ln w="12700">
            <a:solidFill>
              <a:srgbClr val="0B1F3A"/>
            </a:solidFill>
            <a:prstDash val="solid"/>
          </a:ln>
        </p:spPr>
      </p:sp>
      <p:sp>
        <p:nvSpPr>
          <p:cNvPr id="12" name="Text 9"/>
          <p:cNvSpPr/>
          <p:nvPr/>
        </p:nvSpPr>
        <p:spPr>
          <a:xfrm>
            <a:off x="329184" y="850392"/>
            <a:ext cx="2450592"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① Mairie saisit</a:t>
            </a:r>
            <a:endParaRPr lang="en-US" sz="950" dirty="0"/>
          </a:p>
        </p:txBody>
      </p:sp>
      <p:sp>
        <p:nvSpPr>
          <p:cNvPr id="13" name="Shape 10"/>
          <p:cNvSpPr/>
          <p:nvPr/>
        </p:nvSpPr>
        <p:spPr>
          <a:xfrm>
            <a:off x="320040" y="1188720"/>
            <a:ext cx="2468880" cy="374904"/>
          </a:xfrm>
          <a:prstGeom prst="rect">
            <a:avLst/>
          </a:prstGeom>
          <a:solidFill>
            <a:srgbClr val="EBF3FC"/>
          </a:solidFill>
          <a:ln w="3810">
            <a:solidFill>
              <a:srgbClr val="CBD5E1"/>
            </a:solidFill>
            <a:prstDash val="solid"/>
          </a:ln>
        </p:spPr>
      </p:sp>
      <p:sp>
        <p:nvSpPr>
          <p:cNvPr id="14" name="Text 11"/>
          <p:cNvSpPr/>
          <p:nvPr/>
        </p:nvSpPr>
        <p:spPr>
          <a:xfrm>
            <a:off x="365760" y="1207008"/>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Type</a:t>
            </a:r>
            <a:endParaRPr lang="en-US" sz="800" dirty="0"/>
          </a:p>
        </p:txBody>
      </p:sp>
      <p:sp>
        <p:nvSpPr>
          <p:cNvPr id="15" name="Text 12"/>
          <p:cNvSpPr/>
          <p:nvPr/>
        </p:nvSpPr>
        <p:spPr>
          <a:xfrm>
            <a:off x="1234440" y="1207008"/>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Dépense</a:t>
            </a:r>
            <a:endParaRPr lang="en-US" sz="850" dirty="0"/>
          </a:p>
        </p:txBody>
      </p:sp>
      <p:sp>
        <p:nvSpPr>
          <p:cNvPr id="16" name="Shape 13"/>
          <p:cNvSpPr/>
          <p:nvPr/>
        </p:nvSpPr>
        <p:spPr>
          <a:xfrm>
            <a:off x="320040" y="1609344"/>
            <a:ext cx="2468880" cy="374904"/>
          </a:xfrm>
          <a:prstGeom prst="rect">
            <a:avLst/>
          </a:prstGeom>
          <a:solidFill>
            <a:srgbClr val="FFFFFF"/>
          </a:solidFill>
          <a:ln w="3810">
            <a:solidFill>
              <a:srgbClr val="CBD5E1"/>
            </a:solidFill>
            <a:prstDash val="solid"/>
          </a:ln>
        </p:spPr>
      </p:sp>
      <p:sp>
        <p:nvSpPr>
          <p:cNvPr id="17" name="Text 14"/>
          <p:cNvSpPr/>
          <p:nvPr/>
        </p:nvSpPr>
        <p:spPr>
          <a:xfrm>
            <a:off x="365760" y="1627632"/>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Montant</a:t>
            </a:r>
            <a:endParaRPr lang="en-US" sz="800" dirty="0"/>
          </a:p>
        </p:txBody>
      </p:sp>
      <p:sp>
        <p:nvSpPr>
          <p:cNvPr id="18" name="Text 15"/>
          <p:cNvSpPr/>
          <p:nvPr/>
        </p:nvSpPr>
        <p:spPr>
          <a:xfrm>
            <a:off x="1234440" y="1627632"/>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45 000 000 FCFA</a:t>
            </a:r>
            <a:endParaRPr lang="en-US" sz="850" dirty="0"/>
          </a:p>
        </p:txBody>
      </p:sp>
      <p:sp>
        <p:nvSpPr>
          <p:cNvPr id="19" name="Shape 16"/>
          <p:cNvSpPr/>
          <p:nvPr/>
        </p:nvSpPr>
        <p:spPr>
          <a:xfrm>
            <a:off x="320040" y="2029968"/>
            <a:ext cx="2468880" cy="374904"/>
          </a:xfrm>
          <a:prstGeom prst="rect">
            <a:avLst/>
          </a:prstGeom>
          <a:solidFill>
            <a:srgbClr val="EBF3FC"/>
          </a:solidFill>
          <a:ln w="3810">
            <a:solidFill>
              <a:srgbClr val="CBD5E1"/>
            </a:solidFill>
            <a:prstDash val="solid"/>
          </a:ln>
        </p:spPr>
      </p:sp>
      <p:sp>
        <p:nvSpPr>
          <p:cNvPr id="20" name="Text 17"/>
          <p:cNvSpPr/>
          <p:nvPr/>
        </p:nvSpPr>
        <p:spPr>
          <a:xfrm>
            <a:off x="365760" y="2048256"/>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Bénéficiaire</a:t>
            </a:r>
            <a:endParaRPr lang="en-US" sz="800" dirty="0"/>
          </a:p>
        </p:txBody>
      </p:sp>
      <p:sp>
        <p:nvSpPr>
          <p:cNvPr id="21" name="Text 18"/>
          <p:cNvSpPr/>
          <p:nvPr/>
        </p:nvSpPr>
        <p:spPr>
          <a:xfrm>
            <a:off x="1234440" y="2048256"/>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COLAS CI SA</a:t>
            </a:r>
            <a:endParaRPr lang="en-US" sz="850" dirty="0"/>
          </a:p>
        </p:txBody>
      </p:sp>
      <p:sp>
        <p:nvSpPr>
          <p:cNvPr id="22" name="Shape 19"/>
          <p:cNvSpPr/>
          <p:nvPr/>
        </p:nvSpPr>
        <p:spPr>
          <a:xfrm>
            <a:off x="320040" y="2450592"/>
            <a:ext cx="2468880" cy="374904"/>
          </a:xfrm>
          <a:prstGeom prst="rect">
            <a:avLst/>
          </a:prstGeom>
          <a:solidFill>
            <a:srgbClr val="FFFFFF"/>
          </a:solidFill>
          <a:ln w="3810">
            <a:solidFill>
              <a:srgbClr val="CBD5E1"/>
            </a:solidFill>
            <a:prstDash val="solid"/>
          </a:ln>
        </p:spPr>
      </p:sp>
      <p:sp>
        <p:nvSpPr>
          <p:cNvPr id="23" name="Text 20"/>
          <p:cNvSpPr/>
          <p:nvPr/>
        </p:nvSpPr>
        <p:spPr>
          <a:xfrm>
            <a:off x="365760" y="2468880"/>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Marché</a:t>
            </a:r>
            <a:endParaRPr lang="en-US" sz="800" dirty="0"/>
          </a:p>
        </p:txBody>
      </p:sp>
      <p:sp>
        <p:nvSpPr>
          <p:cNvPr id="24" name="Text 21"/>
          <p:cNvSpPr/>
          <p:nvPr/>
        </p:nvSpPr>
        <p:spPr>
          <a:xfrm>
            <a:off x="1234440" y="2468880"/>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MP-2026-CI-0089</a:t>
            </a:r>
            <a:endParaRPr lang="en-US" sz="850" dirty="0"/>
          </a:p>
        </p:txBody>
      </p:sp>
      <p:sp>
        <p:nvSpPr>
          <p:cNvPr id="25" name="Shape 22"/>
          <p:cNvSpPr/>
          <p:nvPr/>
        </p:nvSpPr>
        <p:spPr>
          <a:xfrm>
            <a:off x="320040" y="2871216"/>
            <a:ext cx="2468880" cy="374904"/>
          </a:xfrm>
          <a:prstGeom prst="rect">
            <a:avLst/>
          </a:prstGeom>
          <a:solidFill>
            <a:srgbClr val="EBF3FC"/>
          </a:solidFill>
          <a:ln w="3810">
            <a:solidFill>
              <a:srgbClr val="CBD5E1"/>
            </a:solidFill>
            <a:prstDash val="solid"/>
          </a:ln>
        </p:spPr>
      </p:sp>
      <p:sp>
        <p:nvSpPr>
          <p:cNvPr id="26" name="Text 23"/>
          <p:cNvSpPr/>
          <p:nvPr/>
        </p:nvSpPr>
        <p:spPr>
          <a:xfrm>
            <a:off x="365760" y="2889504"/>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Catégorie</a:t>
            </a:r>
            <a:endParaRPr lang="en-US" sz="800" dirty="0"/>
          </a:p>
        </p:txBody>
      </p:sp>
      <p:sp>
        <p:nvSpPr>
          <p:cNvPr id="27" name="Text 24"/>
          <p:cNvSpPr/>
          <p:nvPr/>
        </p:nvSpPr>
        <p:spPr>
          <a:xfrm>
            <a:off x="1234440" y="2889504"/>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Infrastructure</a:t>
            </a:r>
            <a:endParaRPr lang="en-US" sz="850" dirty="0"/>
          </a:p>
        </p:txBody>
      </p:sp>
      <p:sp>
        <p:nvSpPr>
          <p:cNvPr id="28" name="Shape 25"/>
          <p:cNvSpPr/>
          <p:nvPr/>
        </p:nvSpPr>
        <p:spPr>
          <a:xfrm>
            <a:off x="320040" y="3291840"/>
            <a:ext cx="2468880" cy="374904"/>
          </a:xfrm>
          <a:prstGeom prst="rect">
            <a:avLst/>
          </a:prstGeom>
          <a:solidFill>
            <a:srgbClr val="FFFFFF"/>
          </a:solidFill>
          <a:ln w="3810">
            <a:solidFill>
              <a:srgbClr val="CBD5E1"/>
            </a:solidFill>
            <a:prstDash val="solid"/>
          </a:ln>
        </p:spPr>
      </p:sp>
      <p:sp>
        <p:nvSpPr>
          <p:cNvPr id="29" name="Text 26"/>
          <p:cNvSpPr/>
          <p:nvPr/>
        </p:nvSpPr>
        <p:spPr>
          <a:xfrm>
            <a:off x="365760" y="3310128"/>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Description</a:t>
            </a:r>
            <a:endParaRPr lang="en-US" sz="800" dirty="0"/>
          </a:p>
        </p:txBody>
      </p:sp>
      <p:sp>
        <p:nvSpPr>
          <p:cNvPr id="30" name="Text 27"/>
          <p:cNvSpPr/>
          <p:nvPr/>
        </p:nvSpPr>
        <p:spPr>
          <a:xfrm>
            <a:off x="1234440" y="3310128"/>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Bitumage Angré PK18</a:t>
            </a:r>
            <a:endParaRPr lang="en-US" sz="850" dirty="0"/>
          </a:p>
        </p:txBody>
      </p:sp>
      <p:sp>
        <p:nvSpPr>
          <p:cNvPr id="31" name="Shape 28"/>
          <p:cNvSpPr/>
          <p:nvPr/>
        </p:nvSpPr>
        <p:spPr>
          <a:xfrm>
            <a:off x="320040" y="3712464"/>
            <a:ext cx="2468880" cy="374904"/>
          </a:xfrm>
          <a:prstGeom prst="rect">
            <a:avLst/>
          </a:prstGeom>
          <a:solidFill>
            <a:srgbClr val="EBF3FC"/>
          </a:solidFill>
          <a:ln w="3810">
            <a:solidFill>
              <a:srgbClr val="CBD5E1"/>
            </a:solidFill>
            <a:prstDash val="solid"/>
          </a:ln>
        </p:spPr>
      </p:sp>
      <p:sp>
        <p:nvSpPr>
          <p:cNvPr id="32" name="Text 29"/>
          <p:cNvSpPr/>
          <p:nvPr/>
        </p:nvSpPr>
        <p:spPr>
          <a:xfrm>
            <a:off x="365760" y="3730752"/>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Commune</a:t>
            </a:r>
            <a:endParaRPr lang="en-US" sz="800" dirty="0"/>
          </a:p>
        </p:txBody>
      </p:sp>
      <p:sp>
        <p:nvSpPr>
          <p:cNvPr id="33" name="Text 30"/>
          <p:cNvSpPr/>
          <p:nvPr/>
        </p:nvSpPr>
        <p:spPr>
          <a:xfrm>
            <a:off x="1234440" y="3730752"/>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Abidjan-Cocody</a:t>
            </a:r>
            <a:endParaRPr lang="en-US" sz="850" dirty="0"/>
          </a:p>
        </p:txBody>
      </p:sp>
      <p:sp>
        <p:nvSpPr>
          <p:cNvPr id="34" name="Shape 31"/>
          <p:cNvSpPr/>
          <p:nvPr/>
        </p:nvSpPr>
        <p:spPr>
          <a:xfrm>
            <a:off x="320040" y="4133088"/>
            <a:ext cx="2468880" cy="374904"/>
          </a:xfrm>
          <a:prstGeom prst="rect">
            <a:avLst/>
          </a:prstGeom>
          <a:solidFill>
            <a:srgbClr val="FFFFFF"/>
          </a:solidFill>
          <a:ln w="3810">
            <a:solidFill>
              <a:srgbClr val="CBD5E1"/>
            </a:solidFill>
            <a:prstDash val="solid"/>
          </a:ln>
        </p:spPr>
      </p:sp>
      <p:sp>
        <p:nvSpPr>
          <p:cNvPr id="35" name="Text 32"/>
          <p:cNvSpPr/>
          <p:nvPr/>
        </p:nvSpPr>
        <p:spPr>
          <a:xfrm>
            <a:off x="365760" y="4151376"/>
            <a:ext cx="822960" cy="347472"/>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Signataire</a:t>
            </a:r>
            <a:endParaRPr lang="en-US" sz="800" dirty="0"/>
          </a:p>
        </p:txBody>
      </p:sp>
      <p:sp>
        <p:nvSpPr>
          <p:cNvPr id="36" name="Text 33"/>
          <p:cNvSpPr/>
          <p:nvPr/>
        </p:nvSpPr>
        <p:spPr>
          <a:xfrm>
            <a:off x="1234440" y="4151376"/>
            <a:ext cx="1508760" cy="347472"/>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0x3f...a8D2</a:t>
            </a:r>
            <a:endParaRPr lang="en-US" sz="850" dirty="0"/>
          </a:p>
        </p:txBody>
      </p:sp>
      <p:sp>
        <p:nvSpPr>
          <p:cNvPr id="37" name="Text 34"/>
          <p:cNvSpPr/>
          <p:nvPr/>
        </p:nvSpPr>
        <p:spPr>
          <a:xfrm>
            <a:off x="2880360" y="2651760"/>
            <a:ext cx="256032" cy="320040"/>
          </a:xfrm>
          <a:prstGeom prst="rect">
            <a:avLst/>
          </a:prstGeom>
          <a:noFill/>
          <a:ln/>
        </p:spPr>
        <p:txBody>
          <a:bodyPr wrap="square" lIns="0" tIns="0" rIns="0" bIns="0" rtlCol="0" anchor="ctr"/>
          <a:lstStyle/>
          <a:p>
            <a:pPr algn="ctr" indent="0" marL="0">
              <a:buNone/>
            </a:pPr>
            <a:r>
              <a:rPr lang="en-US" sz="1600" b="1" dirty="0">
                <a:solidFill>
                  <a:srgbClr val="E8690E"/>
                </a:solidFill>
                <a:latin typeface="Calibri" pitchFamily="34" charset="0"/>
                <a:ea typeface="Calibri" pitchFamily="34" charset="-122"/>
                <a:cs typeface="Calibri" pitchFamily="34" charset="-120"/>
              </a:rPr>
              <a:t>→</a:t>
            </a:r>
            <a:endParaRPr lang="en-US" sz="1600" dirty="0"/>
          </a:p>
        </p:txBody>
      </p:sp>
      <p:sp>
        <p:nvSpPr>
          <p:cNvPr id="38" name="Shape 35"/>
          <p:cNvSpPr/>
          <p:nvPr/>
        </p:nvSpPr>
        <p:spPr>
          <a:xfrm>
            <a:off x="3154680" y="841248"/>
            <a:ext cx="2834640" cy="3913632"/>
          </a:xfrm>
          <a:prstGeom prst="rect">
            <a:avLst/>
          </a:prstGeom>
          <a:solidFill>
            <a:srgbClr val="0B1F3A"/>
          </a:solidFill>
          <a:ln w="12700">
            <a:solidFill>
              <a:srgbClr val="0B1F3A"/>
            </a:solidFill>
            <a:prstDash val="solid"/>
          </a:ln>
          <a:effectLst>
            <a:outerShdw sx="100000" sy="100000" kx="0" ky="0" algn="bl" rotWithShape="0" blurRad="101600" dist="38100" dir="8100000">
              <a:srgbClr val="000000">
                <a:alpha val="12000"/>
              </a:srgbClr>
            </a:outerShdw>
          </a:effectLst>
        </p:spPr>
      </p:sp>
      <p:sp>
        <p:nvSpPr>
          <p:cNvPr id="39" name="Shape 36"/>
          <p:cNvSpPr/>
          <p:nvPr/>
        </p:nvSpPr>
        <p:spPr>
          <a:xfrm>
            <a:off x="3154680" y="841248"/>
            <a:ext cx="2834640" cy="292608"/>
          </a:xfrm>
          <a:prstGeom prst="rect">
            <a:avLst/>
          </a:prstGeom>
          <a:solidFill>
            <a:srgbClr val="C95E00"/>
          </a:solidFill>
          <a:ln w="12700">
            <a:solidFill>
              <a:srgbClr val="C95E00"/>
            </a:solidFill>
            <a:prstDash val="solid"/>
          </a:ln>
        </p:spPr>
      </p:sp>
      <p:sp>
        <p:nvSpPr>
          <p:cNvPr id="40" name="Text 37"/>
          <p:cNvSpPr/>
          <p:nvPr/>
        </p:nvSpPr>
        <p:spPr>
          <a:xfrm>
            <a:off x="3200400" y="850392"/>
            <a:ext cx="2743200"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② Ethereum confirme</a:t>
            </a:r>
            <a:endParaRPr lang="en-US" sz="950" dirty="0"/>
          </a:p>
        </p:txBody>
      </p:sp>
      <p:sp>
        <p:nvSpPr>
          <p:cNvPr id="41" name="Text 38"/>
          <p:cNvSpPr/>
          <p:nvPr/>
        </p:nvSpPr>
        <p:spPr>
          <a:xfrm>
            <a:off x="3291840" y="1234440"/>
            <a:ext cx="2606040" cy="201168"/>
          </a:xfrm>
          <a:prstGeom prst="rect">
            <a:avLst/>
          </a:prstGeom>
          <a:noFill/>
          <a:ln/>
        </p:spPr>
        <p:txBody>
          <a:bodyPr wrap="square" lIns="0" tIns="0" rIns="0" bIns="0" rtlCol="0" anchor="ctr"/>
          <a:lstStyle/>
          <a:p>
            <a:pPr indent="0" marL="0">
              <a:buNone/>
            </a:pPr>
            <a:r>
              <a:rPr lang="en-US" sz="850" b="1" dirty="0">
                <a:solidFill>
                  <a:srgbClr val="E8690E"/>
                </a:solidFill>
                <a:latin typeface="Calibri" pitchFamily="34" charset="0"/>
                <a:ea typeface="Calibri" pitchFamily="34" charset="-122"/>
                <a:cs typeface="Calibri" pitchFamily="34" charset="-120"/>
              </a:rPr>
              <a:t>Transaction Hash</a:t>
            </a:r>
            <a:endParaRPr lang="en-US" sz="850" dirty="0"/>
          </a:p>
        </p:txBody>
      </p:sp>
      <p:sp>
        <p:nvSpPr>
          <p:cNvPr id="42" name="Shape 39"/>
          <p:cNvSpPr/>
          <p:nvPr/>
        </p:nvSpPr>
        <p:spPr>
          <a:xfrm>
            <a:off x="3291840" y="1463040"/>
            <a:ext cx="2606040" cy="347472"/>
          </a:xfrm>
          <a:prstGeom prst="rect">
            <a:avLst/>
          </a:prstGeom>
          <a:solidFill>
            <a:srgbClr val="1A4E8F"/>
          </a:solidFill>
          <a:ln w="12700">
            <a:solidFill>
              <a:srgbClr val="2E6BC4"/>
            </a:solidFill>
            <a:prstDash val="solid"/>
          </a:ln>
        </p:spPr>
      </p:sp>
      <p:sp>
        <p:nvSpPr>
          <p:cNvPr id="43" name="Text 40"/>
          <p:cNvSpPr/>
          <p:nvPr/>
        </p:nvSpPr>
        <p:spPr>
          <a:xfrm>
            <a:off x="3337560" y="1481328"/>
            <a:ext cx="2514600" cy="310896"/>
          </a:xfrm>
          <a:prstGeom prst="rect">
            <a:avLst/>
          </a:prstGeom>
          <a:noFill/>
          <a:ln/>
        </p:spPr>
        <p:txBody>
          <a:bodyPr wrap="square" lIns="0" tIns="0" rIns="0" bIns="0" rtlCol="0" anchor="ctr"/>
          <a:lstStyle/>
          <a:p>
            <a:pPr indent="0" marL="0">
              <a:buNone/>
            </a:pPr>
            <a:r>
              <a:rPr lang="en-US" sz="800" dirty="0">
                <a:solidFill>
                  <a:srgbClr val="EBF3FC"/>
                </a:solidFill>
                <a:latin typeface="Calibri" pitchFamily="34" charset="0"/>
                <a:ea typeface="Calibri" pitchFamily="34" charset="-122"/>
                <a:cs typeface="Calibri" pitchFamily="34" charset="-120"/>
              </a:rPr>
              <a:t>0x3f8a2dc9b7e841d2</a:t>
            </a:r>
            <a:endParaRPr lang="en-US" sz="800" dirty="0"/>
          </a:p>
          <a:p>
            <a:pPr indent="0" marL="0">
              <a:buNone/>
            </a:pPr>
            <a:r>
              <a:rPr lang="en-US" sz="800" dirty="0">
                <a:solidFill>
                  <a:srgbClr val="EBF3FC"/>
                </a:solidFill>
                <a:latin typeface="Calibri" pitchFamily="34" charset="0"/>
                <a:ea typeface="Calibri" pitchFamily="34" charset="-122"/>
                <a:cs typeface="Calibri" pitchFamily="34" charset="-120"/>
              </a:rPr>
              <a:t>a12fe3c45e678f30...</a:t>
            </a:r>
            <a:endParaRPr lang="en-US" sz="800" dirty="0"/>
          </a:p>
        </p:txBody>
      </p:sp>
      <p:sp>
        <p:nvSpPr>
          <p:cNvPr id="44" name="Text 41"/>
          <p:cNvSpPr/>
          <p:nvPr/>
        </p:nvSpPr>
        <p:spPr>
          <a:xfrm>
            <a:off x="3291840" y="1920240"/>
            <a:ext cx="2606040" cy="201168"/>
          </a:xfrm>
          <a:prstGeom prst="rect">
            <a:avLst/>
          </a:prstGeom>
          <a:noFill/>
          <a:ln/>
        </p:spPr>
        <p:txBody>
          <a:bodyPr wrap="square" lIns="0" tIns="0" rIns="0" bIns="0" rtlCol="0" anchor="ctr"/>
          <a:lstStyle/>
          <a:p>
            <a:pPr indent="0" marL="0">
              <a:buNone/>
            </a:pPr>
            <a:r>
              <a:rPr lang="en-US" sz="850" b="1" dirty="0">
                <a:solidFill>
                  <a:srgbClr val="E8690E"/>
                </a:solidFill>
                <a:latin typeface="Calibri" pitchFamily="34" charset="0"/>
                <a:ea typeface="Calibri" pitchFamily="34" charset="-122"/>
                <a:cs typeface="Calibri" pitchFamily="34" charset="-120"/>
              </a:rPr>
              <a:t>Bloc confirmé</a:t>
            </a:r>
            <a:endParaRPr lang="en-US" sz="850" dirty="0"/>
          </a:p>
        </p:txBody>
      </p:sp>
      <p:sp>
        <p:nvSpPr>
          <p:cNvPr id="45" name="Shape 42"/>
          <p:cNvSpPr/>
          <p:nvPr/>
        </p:nvSpPr>
        <p:spPr>
          <a:xfrm>
            <a:off x="3291840" y="2148840"/>
            <a:ext cx="2606040" cy="256032"/>
          </a:xfrm>
          <a:prstGeom prst="rect">
            <a:avLst/>
          </a:prstGeom>
          <a:solidFill>
            <a:srgbClr val="1A4E8F"/>
          </a:solidFill>
          <a:ln w="12700">
            <a:solidFill>
              <a:srgbClr val="2E6BC4"/>
            </a:solidFill>
            <a:prstDash val="solid"/>
          </a:ln>
        </p:spPr>
      </p:sp>
      <p:sp>
        <p:nvSpPr>
          <p:cNvPr id="46" name="Text 43"/>
          <p:cNvSpPr/>
          <p:nvPr/>
        </p:nvSpPr>
        <p:spPr>
          <a:xfrm>
            <a:off x="3337560" y="2167128"/>
            <a:ext cx="2514600" cy="219456"/>
          </a:xfrm>
          <a:prstGeom prst="rect">
            <a:avLst/>
          </a:prstGeom>
          <a:noFill/>
          <a:ln/>
        </p:spPr>
        <p:txBody>
          <a:bodyPr wrap="square" lIns="0" tIns="0" rIns="0" bIns="0" rtlCol="0" anchor="ctr"/>
          <a:lstStyle/>
          <a:p>
            <a:pPr indent="0" marL="0">
              <a:buNone/>
            </a:pPr>
            <a:r>
              <a:rPr lang="en-US" sz="750" dirty="0">
                <a:solidFill>
                  <a:srgbClr val="EBF3FC"/>
                </a:solidFill>
                <a:latin typeface="Calibri" pitchFamily="34" charset="0"/>
                <a:ea typeface="Calibri" pitchFamily="34" charset="-122"/>
                <a:cs typeface="Calibri" pitchFamily="34" charset="-120"/>
              </a:rPr>
              <a:t>#19,847,332  ·  Timestamp : 2026-04-17 10:24:07 UTC</a:t>
            </a:r>
            <a:endParaRPr lang="en-US" sz="750" dirty="0"/>
          </a:p>
        </p:txBody>
      </p:sp>
      <p:sp>
        <p:nvSpPr>
          <p:cNvPr id="47" name="Text 44"/>
          <p:cNvSpPr/>
          <p:nvPr/>
        </p:nvSpPr>
        <p:spPr>
          <a:xfrm>
            <a:off x="3291840" y="2523744"/>
            <a:ext cx="2606040" cy="201168"/>
          </a:xfrm>
          <a:prstGeom prst="rect">
            <a:avLst/>
          </a:prstGeom>
          <a:noFill/>
          <a:ln/>
        </p:spPr>
        <p:txBody>
          <a:bodyPr wrap="square" lIns="0" tIns="0" rIns="0" bIns="0" rtlCol="0" anchor="ctr"/>
          <a:lstStyle/>
          <a:p>
            <a:pPr indent="0" marL="0">
              <a:buNone/>
            </a:pPr>
            <a:r>
              <a:rPr lang="en-US" sz="850" b="1" dirty="0">
                <a:solidFill>
                  <a:srgbClr val="E8690E"/>
                </a:solidFill>
                <a:latin typeface="Calibri" pitchFamily="34" charset="0"/>
                <a:ea typeface="Calibri" pitchFamily="34" charset="-122"/>
                <a:cs typeface="Calibri" pitchFamily="34" charset="-120"/>
              </a:rPr>
              <a:t>Statut</a:t>
            </a:r>
            <a:endParaRPr lang="en-US" sz="850" dirty="0"/>
          </a:p>
        </p:txBody>
      </p:sp>
      <p:sp>
        <p:nvSpPr>
          <p:cNvPr id="48" name="Shape 45"/>
          <p:cNvSpPr/>
          <p:nvPr/>
        </p:nvSpPr>
        <p:spPr>
          <a:xfrm>
            <a:off x="3291840" y="2743200"/>
            <a:ext cx="2606040" cy="256032"/>
          </a:xfrm>
          <a:prstGeom prst="rect">
            <a:avLst/>
          </a:prstGeom>
          <a:solidFill>
            <a:srgbClr val="1A5C38"/>
          </a:solidFill>
          <a:ln w="12700">
            <a:solidFill>
              <a:srgbClr val="1A5C38"/>
            </a:solidFill>
            <a:prstDash val="solid"/>
          </a:ln>
        </p:spPr>
      </p:sp>
      <p:sp>
        <p:nvSpPr>
          <p:cNvPr id="49" name="Text 46"/>
          <p:cNvSpPr/>
          <p:nvPr/>
        </p:nvSpPr>
        <p:spPr>
          <a:xfrm>
            <a:off x="3337560" y="2761488"/>
            <a:ext cx="2514600" cy="219456"/>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Confirmé · Immuable · Public</a:t>
            </a:r>
            <a:endParaRPr lang="en-US" sz="850" dirty="0"/>
          </a:p>
        </p:txBody>
      </p:sp>
      <p:sp>
        <p:nvSpPr>
          <p:cNvPr id="50" name="Text 47"/>
          <p:cNvSpPr/>
          <p:nvPr/>
        </p:nvSpPr>
        <p:spPr>
          <a:xfrm>
            <a:off x="3291840" y="3127248"/>
            <a:ext cx="2606040" cy="201168"/>
          </a:xfrm>
          <a:prstGeom prst="rect">
            <a:avLst/>
          </a:prstGeom>
          <a:noFill/>
          <a:ln/>
        </p:spPr>
        <p:txBody>
          <a:bodyPr wrap="square" lIns="0" tIns="0" rIns="0" bIns="0" rtlCol="0" anchor="ctr"/>
          <a:lstStyle/>
          <a:p>
            <a:pPr indent="0" marL="0">
              <a:buNone/>
            </a:pPr>
            <a:r>
              <a:rPr lang="en-US" sz="850" b="1" dirty="0">
                <a:solidFill>
                  <a:srgbClr val="E8690E"/>
                </a:solidFill>
                <a:latin typeface="Calibri" pitchFamily="34" charset="0"/>
                <a:ea typeface="Calibri" pitchFamily="34" charset="-122"/>
                <a:cs typeface="Calibri" pitchFamily="34" charset="-120"/>
              </a:rPr>
              <a:t>Réseau</a:t>
            </a:r>
            <a:endParaRPr lang="en-US" sz="850" dirty="0"/>
          </a:p>
        </p:txBody>
      </p:sp>
      <p:sp>
        <p:nvSpPr>
          <p:cNvPr id="51" name="Text 48"/>
          <p:cNvSpPr/>
          <p:nvPr/>
        </p:nvSpPr>
        <p:spPr>
          <a:xfrm>
            <a:off x="3291840" y="3346704"/>
            <a:ext cx="2606040" cy="457200"/>
          </a:xfrm>
          <a:prstGeom prst="rect">
            <a:avLst/>
          </a:prstGeom>
          <a:noFill/>
          <a:ln/>
        </p:spPr>
        <p:txBody>
          <a:bodyPr wrap="square" lIns="0" tIns="0" rIns="0" bIns="0" rtlCol="0" anchor="ctr"/>
          <a:lstStyle/>
          <a:p>
            <a:pPr indent="0" marL="0">
              <a:lnSpc>
                <a:spcPct val="130000"/>
              </a:lnSpc>
              <a:buNone/>
            </a:pPr>
            <a:r>
              <a:rPr lang="en-US" sz="800" dirty="0">
                <a:solidFill>
                  <a:srgbClr val="EBF3FC"/>
                </a:solidFill>
                <a:latin typeface="Calibri" pitchFamily="34" charset="0"/>
                <a:ea typeface="Calibri" pitchFamily="34" charset="-122"/>
                <a:cs typeface="Calibri" pitchFamily="34" charset="-120"/>
              </a:rPr>
              <a:t>Ethereum Mainnet  ·  PoS Consensus</a:t>
            </a:r>
            <a:endParaRPr lang="en-US" sz="800" dirty="0"/>
          </a:p>
          <a:p>
            <a:pPr indent="0" marL="0">
              <a:lnSpc>
                <a:spcPct val="130000"/>
              </a:lnSpc>
              <a:buNone/>
            </a:pPr>
            <a:r>
              <a:rPr lang="en-US" sz="800" dirty="0">
                <a:solidFill>
                  <a:srgbClr val="EBF3FC"/>
                </a:solidFill>
                <a:latin typeface="Calibri" pitchFamily="34" charset="0"/>
                <a:ea typeface="Calibri" pitchFamily="34" charset="-122"/>
                <a:cs typeface="Calibri" pitchFamily="34" charset="-120"/>
              </a:rPr>
              <a:t>Validé par ~500 000 validateurs</a:t>
            </a:r>
            <a:endParaRPr lang="en-US" sz="800" dirty="0"/>
          </a:p>
        </p:txBody>
      </p:sp>
      <p:sp>
        <p:nvSpPr>
          <p:cNvPr id="52" name="Text 49"/>
          <p:cNvSpPr/>
          <p:nvPr/>
        </p:nvSpPr>
        <p:spPr>
          <a:xfrm>
            <a:off x="3291840" y="3931920"/>
            <a:ext cx="2606040" cy="201168"/>
          </a:xfrm>
          <a:prstGeom prst="rect">
            <a:avLst/>
          </a:prstGeom>
          <a:noFill/>
          <a:ln/>
        </p:spPr>
        <p:txBody>
          <a:bodyPr wrap="square" lIns="0" tIns="0" rIns="0" bIns="0" rtlCol="0" anchor="ctr"/>
          <a:lstStyle/>
          <a:p>
            <a:pPr indent="0" marL="0">
              <a:buNone/>
            </a:pPr>
            <a:r>
              <a:rPr lang="en-US" sz="800" b="1" dirty="0">
                <a:solidFill>
                  <a:srgbClr val="0E7C86"/>
                </a:solidFill>
                <a:latin typeface="Calibri" pitchFamily="34" charset="0"/>
                <a:ea typeface="Calibri" pitchFamily="34" charset="-122"/>
                <a:cs typeface="Calibri" pitchFamily="34" charset="-120"/>
              </a:rPr>
              <a:t>⏱  Temps de confirmation : 12 secondes</a:t>
            </a:r>
            <a:endParaRPr lang="en-US" sz="800" dirty="0"/>
          </a:p>
        </p:txBody>
      </p:sp>
      <p:sp>
        <p:nvSpPr>
          <p:cNvPr id="53" name="Text 50"/>
          <p:cNvSpPr/>
          <p:nvPr/>
        </p:nvSpPr>
        <p:spPr>
          <a:xfrm>
            <a:off x="6016752" y="2651760"/>
            <a:ext cx="256032" cy="320040"/>
          </a:xfrm>
          <a:prstGeom prst="rect">
            <a:avLst/>
          </a:prstGeom>
          <a:noFill/>
          <a:ln/>
        </p:spPr>
        <p:txBody>
          <a:bodyPr wrap="square" lIns="0" tIns="0" rIns="0" bIns="0" rtlCol="0" anchor="ctr"/>
          <a:lstStyle/>
          <a:p>
            <a:pPr algn="ctr" indent="0" marL="0">
              <a:buNone/>
            </a:pPr>
            <a:r>
              <a:rPr lang="en-US" sz="1600" b="1" dirty="0">
                <a:solidFill>
                  <a:srgbClr val="E8690E"/>
                </a:solidFill>
                <a:latin typeface="Calibri" pitchFamily="34" charset="0"/>
                <a:ea typeface="Calibri" pitchFamily="34" charset="-122"/>
                <a:cs typeface="Calibri" pitchFamily="34" charset="-120"/>
              </a:rPr>
              <a:t>→</a:t>
            </a:r>
            <a:endParaRPr lang="en-US" sz="1600" dirty="0"/>
          </a:p>
        </p:txBody>
      </p:sp>
      <p:sp>
        <p:nvSpPr>
          <p:cNvPr id="54" name="Shape 51"/>
          <p:cNvSpPr/>
          <p:nvPr/>
        </p:nvSpPr>
        <p:spPr>
          <a:xfrm>
            <a:off x="6291072" y="841248"/>
            <a:ext cx="2596896" cy="3913632"/>
          </a:xfrm>
          <a:prstGeom prst="rect">
            <a:avLst/>
          </a:prstGeom>
          <a:solidFill>
            <a:srgbClr val="FFFFFF"/>
          </a:solidFill>
          <a:ln w="6350">
            <a:solidFill>
              <a:srgbClr val="CBD5E1"/>
            </a:solidFill>
            <a:prstDash val="solid"/>
          </a:ln>
          <a:effectLst>
            <a:outerShdw sx="100000" sy="100000" kx="0" ky="0" algn="bl" rotWithShape="0" blurRad="101600" dist="38100" dir="8100000">
              <a:srgbClr val="000000">
                <a:alpha val="12000"/>
              </a:srgbClr>
            </a:outerShdw>
          </a:effectLst>
        </p:spPr>
      </p:sp>
      <p:sp>
        <p:nvSpPr>
          <p:cNvPr id="55" name="Shape 52"/>
          <p:cNvSpPr/>
          <p:nvPr/>
        </p:nvSpPr>
        <p:spPr>
          <a:xfrm>
            <a:off x="6291072" y="841248"/>
            <a:ext cx="2596896" cy="292608"/>
          </a:xfrm>
          <a:prstGeom prst="rect">
            <a:avLst/>
          </a:prstGeom>
          <a:solidFill>
            <a:srgbClr val="1A5C38"/>
          </a:solidFill>
          <a:ln w="12700">
            <a:solidFill>
              <a:srgbClr val="1A5C38"/>
            </a:solidFill>
            <a:prstDash val="solid"/>
          </a:ln>
        </p:spPr>
      </p:sp>
      <p:sp>
        <p:nvSpPr>
          <p:cNvPr id="56" name="Text 53"/>
          <p:cNvSpPr/>
          <p:nvPr/>
        </p:nvSpPr>
        <p:spPr>
          <a:xfrm>
            <a:off x="6336792" y="850392"/>
            <a:ext cx="2505456"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③ Aminata vérifie</a:t>
            </a:r>
            <a:endParaRPr lang="en-US" sz="950" dirty="0"/>
          </a:p>
        </p:txBody>
      </p:sp>
      <p:sp>
        <p:nvSpPr>
          <p:cNvPr id="57" name="Text 54"/>
          <p:cNvSpPr/>
          <p:nvPr/>
        </p:nvSpPr>
        <p:spPr>
          <a:xfrm>
            <a:off x="6382512" y="1188720"/>
            <a:ext cx="2423160" cy="45720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Aminata, Yopougon</a:t>
            </a:r>
            <a:endParaRPr lang="en-US" sz="900" dirty="0"/>
          </a:p>
          <a:p>
            <a:pPr indent="0" marL="0">
              <a:buNone/>
            </a:pPr>
            <a:r>
              <a:rPr lang="en-US" sz="900" dirty="0">
                <a:solidFill>
                  <a:srgbClr val="1E293B"/>
                </a:solidFill>
                <a:latin typeface="Calibri" pitchFamily="34" charset="0"/>
                <a:ea typeface="Calibri" pitchFamily="34" charset="-122"/>
                <a:cs typeface="Calibri" pitchFamily="34" charset="-120"/>
              </a:rPr>
              <a:t>Ouvre l'app KOMOE</a:t>
            </a:r>
            <a:endParaRPr lang="en-US" sz="900" dirty="0"/>
          </a:p>
        </p:txBody>
      </p:sp>
      <p:sp>
        <p:nvSpPr>
          <p:cNvPr id="58" name="Shape 55"/>
          <p:cNvSpPr/>
          <p:nvPr/>
        </p:nvSpPr>
        <p:spPr>
          <a:xfrm>
            <a:off x="6336792" y="1700784"/>
            <a:ext cx="2468880" cy="347472"/>
          </a:xfrm>
          <a:prstGeom prst="rect">
            <a:avLst/>
          </a:prstGeom>
          <a:solidFill>
            <a:srgbClr val="EBF3FC"/>
          </a:solidFill>
          <a:ln w="3810">
            <a:solidFill>
              <a:srgbClr val="CBD5E1"/>
            </a:solidFill>
            <a:prstDash val="solid"/>
          </a:ln>
        </p:spPr>
      </p:sp>
      <p:sp>
        <p:nvSpPr>
          <p:cNvPr id="59" name="Text 56"/>
          <p:cNvSpPr/>
          <p:nvPr/>
        </p:nvSpPr>
        <p:spPr>
          <a:xfrm>
            <a:off x="6373368" y="1719072"/>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Route Angré PK18</a:t>
            </a:r>
            <a:endParaRPr lang="en-US" sz="750" dirty="0"/>
          </a:p>
        </p:txBody>
      </p:sp>
      <p:sp>
        <p:nvSpPr>
          <p:cNvPr id="60" name="Text 57"/>
          <p:cNvSpPr/>
          <p:nvPr/>
        </p:nvSpPr>
        <p:spPr>
          <a:xfrm>
            <a:off x="7333488" y="1719072"/>
            <a:ext cx="1417320" cy="310896"/>
          </a:xfrm>
          <a:prstGeom prst="rect">
            <a:avLst/>
          </a:prstGeom>
          <a:noFill/>
          <a:ln/>
        </p:spPr>
        <p:txBody>
          <a:bodyPr wrap="square" lIns="0" tIns="0" rIns="0" bIns="0" rtlCol="0" anchor="ctr"/>
          <a:lstStyle/>
          <a:p>
            <a:pPr indent="0" marL="0">
              <a:buNone/>
            </a:pPr>
            <a:r>
              <a:rPr lang="en-US" sz="800" b="1" dirty="0">
                <a:solidFill>
                  <a:srgbClr val="1A5C38"/>
                </a:solidFill>
                <a:latin typeface="Calibri" pitchFamily="34" charset="0"/>
                <a:ea typeface="Calibri" pitchFamily="34" charset="-122"/>
                <a:cs typeface="Calibri" pitchFamily="34" charset="-120"/>
              </a:rPr>
              <a:t>-45M FCFA</a:t>
            </a:r>
            <a:endParaRPr lang="en-US" sz="800" dirty="0"/>
          </a:p>
        </p:txBody>
      </p:sp>
      <p:sp>
        <p:nvSpPr>
          <p:cNvPr id="61" name="Shape 58"/>
          <p:cNvSpPr/>
          <p:nvPr/>
        </p:nvSpPr>
        <p:spPr>
          <a:xfrm>
            <a:off x="6336792" y="2093976"/>
            <a:ext cx="2468880" cy="347472"/>
          </a:xfrm>
          <a:prstGeom prst="rect">
            <a:avLst/>
          </a:prstGeom>
          <a:solidFill>
            <a:srgbClr val="FFFFFF"/>
          </a:solidFill>
          <a:ln w="3810">
            <a:solidFill>
              <a:srgbClr val="CBD5E1"/>
            </a:solidFill>
            <a:prstDash val="solid"/>
          </a:ln>
        </p:spPr>
      </p:sp>
      <p:sp>
        <p:nvSpPr>
          <p:cNvPr id="62" name="Text 59"/>
          <p:cNvSpPr/>
          <p:nvPr/>
        </p:nvSpPr>
        <p:spPr>
          <a:xfrm>
            <a:off x="6373368" y="2112264"/>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Catégorie</a:t>
            </a:r>
            <a:endParaRPr lang="en-US" sz="750" dirty="0"/>
          </a:p>
        </p:txBody>
      </p:sp>
      <p:sp>
        <p:nvSpPr>
          <p:cNvPr id="63" name="Text 60"/>
          <p:cNvSpPr/>
          <p:nvPr/>
        </p:nvSpPr>
        <p:spPr>
          <a:xfrm>
            <a:off x="7333488" y="2112264"/>
            <a:ext cx="1417320" cy="310896"/>
          </a:xfrm>
          <a:prstGeom prst="rect">
            <a:avLst/>
          </a:prstGeom>
          <a:noFill/>
          <a:ln/>
        </p:spPr>
        <p:txBody>
          <a:bodyPr wrap="square" lIns="0" tIns="0" rIns="0" bIns="0" rtlCol="0" anchor="ctr"/>
          <a:lstStyle/>
          <a:p>
            <a:pPr indent="0" marL="0">
              <a:buNone/>
            </a:pPr>
            <a:r>
              <a:rPr lang="en-US" sz="800" b="1" dirty="0">
                <a:solidFill>
                  <a:srgbClr val="1A4E8F"/>
                </a:solidFill>
                <a:latin typeface="Calibri" pitchFamily="34" charset="0"/>
                <a:ea typeface="Calibri" pitchFamily="34" charset="-122"/>
                <a:cs typeface="Calibri" pitchFamily="34" charset="-120"/>
              </a:rPr>
              <a:t>Infrastructure</a:t>
            </a:r>
            <a:endParaRPr lang="en-US" sz="800" dirty="0"/>
          </a:p>
        </p:txBody>
      </p:sp>
      <p:sp>
        <p:nvSpPr>
          <p:cNvPr id="64" name="Shape 61"/>
          <p:cNvSpPr/>
          <p:nvPr/>
        </p:nvSpPr>
        <p:spPr>
          <a:xfrm>
            <a:off x="6336792" y="2487168"/>
            <a:ext cx="2468880" cy="347472"/>
          </a:xfrm>
          <a:prstGeom prst="rect">
            <a:avLst/>
          </a:prstGeom>
          <a:solidFill>
            <a:srgbClr val="EBF3FC"/>
          </a:solidFill>
          <a:ln w="3810">
            <a:solidFill>
              <a:srgbClr val="CBD5E1"/>
            </a:solidFill>
            <a:prstDash val="solid"/>
          </a:ln>
        </p:spPr>
      </p:sp>
      <p:sp>
        <p:nvSpPr>
          <p:cNvPr id="65" name="Text 62"/>
          <p:cNvSpPr/>
          <p:nvPr/>
        </p:nvSpPr>
        <p:spPr>
          <a:xfrm>
            <a:off x="6373368" y="2505456"/>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Fournisseur</a:t>
            </a:r>
            <a:endParaRPr lang="en-US" sz="750" dirty="0"/>
          </a:p>
        </p:txBody>
      </p:sp>
      <p:sp>
        <p:nvSpPr>
          <p:cNvPr id="66" name="Text 63"/>
          <p:cNvSpPr/>
          <p:nvPr/>
        </p:nvSpPr>
        <p:spPr>
          <a:xfrm>
            <a:off x="7333488" y="2505456"/>
            <a:ext cx="1417320" cy="310896"/>
          </a:xfrm>
          <a:prstGeom prst="rect">
            <a:avLst/>
          </a:prstGeom>
          <a:noFill/>
          <a:ln/>
        </p:spPr>
        <p:txBody>
          <a:bodyPr wrap="square" lIns="0" tIns="0" rIns="0" bIns="0"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COLAS CI</a:t>
            </a:r>
            <a:endParaRPr lang="en-US" sz="800" dirty="0"/>
          </a:p>
        </p:txBody>
      </p:sp>
      <p:sp>
        <p:nvSpPr>
          <p:cNvPr id="67" name="Shape 64"/>
          <p:cNvSpPr/>
          <p:nvPr/>
        </p:nvSpPr>
        <p:spPr>
          <a:xfrm>
            <a:off x="6336792" y="2880360"/>
            <a:ext cx="2468880" cy="347472"/>
          </a:xfrm>
          <a:prstGeom prst="rect">
            <a:avLst/>
          </a:prstGeom>
          <a:solidFill>
            <a:srgbClr val="FFFFFF"/>
          </a:solidFill>
          <a:ln w="3810">
            <a:solidFill>
              <a:srgbClr val="CBD5E1"/>
            </a:solidFill>
            <a:prstDash val="solid"/>
          </a:ln>
        </p:spPr>
      </p:sp>
      <p:sp>
        <p:nvSpPr>
          <p:cNvPr id="68" name="Text 65"/>
          <p:cNvSpPr/>
          <p:nvPr/>
        </p:nvSpPr>
        <p:spPr>
          <a:xfrm>
            <a:off x="6373368" y="2898648"/>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Date</a:t>
            </a:r>
            <a:endParaRPr lang="en-US" sz="750" dirty="0"/>
          </a:p>
        </p:txBody>
      </p:sp>
      <p:sp>
        <p:nvSpPr>
          <p:cNvPr id="69" name="Text 66"/>
          <p:cNvSpPr/>
          <p:nvPr/>
        </p:nvSpPr>
        <p:spPr>
          <a:xfrm>
            <a:off x="7333488" y="2898648"/>
            <a:ext cx="1417320" cy="310896"/>
          </a:xfrm>
          <a:prstGeom prst="rect">
            <a:avLst/>
          </a:prstGeom>
          <a:noFill/>
          <a:ln/>
        </p:spPr>
        <p:txBody>
          <a:bodyPr wrap="square" lIns="0" tIns="0" rIns="0" bIns="0" rtlCol="0" anchor="ctr"/>
          <a:lstStyle/>
          <a:p>
            <a:pPr indent="0" marL="0">
              <a:buNone/>
            </a:pPr>
            <a:r>
              <a:rPr lang="en-US" sz="800" b="1" dirty="0">
                <a:solidFill>
                  <a:srgbClr val="1E293B"/>
                </a:solidFill>
                <a:latin typeface="Calibri" pitchFamily="34" charset="0"/>
                <a:ea typeface="Calibri" pitchFamily="34" charset="-122"/>
                <a:cs typeface="Calibri" pitchFamily="34" charset="-120"/>
              </a:rPr>
              <a:t>17/04/2026 10:24</a:t>
            </a:r>
            <a:endParaRPr lang="en-US" sz="800" dirty="0"/>
          </a:p>
        </p:txBody>
      </p:sp>
      <p:sp>
        <p:nvSpPr>
          <p:cNvPr id="70" name="Shape 67"/>
          <p:cNvSpPr/>
          <p:nvPr/>
        </p:nvSpPr>
        <p:spPr>
          <a:xfrm>
            <a:off x="6336792" y="3273552"/>
            <a:ext cx="2468880" cy="347472"/>
          </a:xfrm>
          <a:prstGeom prst="rect">
            <a:avLst/>
          </a:prstGeom>
          <a:solidFill>
            <a:srgbClr val="EBF3FC"/>
          </a:solidFill>
          <a:ln w="3810">
            <a:solidFill>
              <a:srgbClr val="CBD5E1"/>
            </a:solidFill>
            <a:prstDash val="solid"/>
          </a:ln>
        </p:spPr>
      </p:sp>
      <p:sp>
        <p:nvSpPr>
          <p:cNvPr id="71" name="Text 68"/>
          <p:cNvSpPr/>
          <p:nvPr/>
        </p:nvSpPr>
        <p:spPr>
          <a:xfrm>
            <a:off x="6373368" y="3291840"/>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Hash</a:t>
            </a:r>
            <a:endParaRPr lang="en-US" sz="750" dirty="0"/>
          </a:p>
        </p:txBody>
      </p:sp>
      <p:sp>
        <p:nvSpPr>
          <p:cNvPr id="72" name="Text 69"/>
          <p:cNvSpPr/>
          <p:nvPr/>
        </p:nvSpPr>
        <p:spPr>
          <a:xfrm>
            <a:off x="7333488" y="3291840"/>
            <a:ext cx="1417320" cy="310896"/>
          </a:xfrm>
          <a:prstGeom prst="rect">
            <a:avLst/>
          </a:prstGeom>
          <a:noFill/>
          <a:ln/>
        </p:spPr>
        <p:txBody>
          <a:bodyPr wrap="square" lIns="0" tIns="0" rIns="0" bIns="0" rtlCol="0" anchor="ctr"/>
          <a:lstStyle/>
          <a:p>
            <a:pPr indent="0" marL="0">
              <a:buNone/>
            </a:pPr>
            <a:r>
              <a:rPr lang="en-US" sz="800" b="1" dirty="0">
                <a:solidFill>
                  <a:srgbClr val="0E7C86"/>
                </a:solidFill>
                <a:latin typeface="Calibri" pitchFamily="34" charset="0"/>
                <a:ea typeface="Calibri" pitchFamily="34" charset="-122"/>
                <a:cs typeface="Calibri" pitchFamily="34" charset="-120"/>
              </a:rPr>
              <a:t>0x3f8a...e841</a:t>
            </a:r>
            <a:endParaRPr lang="en-US" sz="800" dirty="0"/>
          </a:p>
        </p:txBody>
      </p:sp>
      <p:sp>
        <p:nvSpPr>
          <p:cNvPr id="73" name="Shape 70"/>
          <p:cNvSpPr/>
          <p:nvPr/>
        </p:nvSpPr>
        <p:spPr>
          <a:xfrm>
            <a:off x="6336792" y="3666744"/>
            <a:ext cx="2468880" cy="347472"/>
          </a:xfrm>
          <a:prstGeom prst="rect">
            <a:avLst/>
          </a:prstGeom>
          <a:solidFill>
            <a:srgbClr val="FFFFFF"/>
          </a:solidFill>
          <a:ln w="3810">
            <a:solidFill>
              <a:srgbClr val="CBD5E1"/>
            </a:solidFill>
            <a:prstDash val="solid"/>
          </a:ln>
        </p:spPr>
      </p:sp>
      <p:sp>
        <p:nvSpPr>
          <p:cNvPr id="74" name="Text 71"/>
          <p:cNvSpPr/>
          <p:nvPr/>
        </p:nvSpPr>
        <p:spPr>
          <a:xfrm>
            <a:off x="6373368" y="3685032"/>
            <a:ext cx="914400" cy="310896"/>
          </a:xfrm>
          <a:prstGeom prst="rect">
            <a:avLst/>
          </a:prstGeom>
          <a:noFill/>
          <a:ln/>
        </p:spPr>
        <p:txBody>
          <a:bodyPr wrap="square" lIns="0" tIns="0" rIns="0" bIns="0" rtlCol="0" anchor="ctr"/>
          <a:lstStyle/>
          <a:p>
            <a:pPr indent="0" marL="0">
              <a:buNone/>
            </a:pPr>
            <a:r>
              <a:rPr lang="en-US" sz="750" dirty="0">
                <a:solidFill>
                  <a:srgbClr val="6B7280"/>
                </a:solidFill>
                <a:latin typeface="Calibri" pitchFamily="34" charset="0"/>
                <a:ea typeface="Calibri" pitchFamily="34" charset="-122"/>
                <a:cs typeface="Calibri" pitchFamily="34" charset="-120"/>
              </a:rPr>
              <a:t>Bloc</a:t>
            </a:r>
            <a:endParaRPr lang="en-US" sz="750" dirty="0"/>
          </a:p>
        </p:txBody>
      </p:sp>
      <p:sp>
        <p:nvSpPr>
          <p:cNvPr id="75" name="Text 72"/>
          <p:cNvSpPr/>
          <p:nvPr/>
        </p:nvSpPr>
        <p:spPr>
          <a:xfrm>
            <a:off x="7333488" y="3685032"/>
            <a:ext cx="1417320" cy="310896"/>
          </a:xfrm>
          <a:prstGeom prst="rect">
            <a:avLst/>
          </a:prstGeom>
          <a:noFill/>
          <a:ln/>
        </p:spPr>
        <p:txBody>
          <a:bodyPr wrap="square" lIns="0" tIns="0" rIns="0" bIns="0" rtlCol="0" anchor="ctr"/>
          <a:lstStyle/>
          <a:p>
            <a:pPr indent="0" marL="0">
              <a:buNone/>
            </a:pPr>
            <a:r>
              <a:rPr lang="en-US" sz="800" b="1" dirty="0">
                <a:solidFill>
                  <a:srgbClr val="0E7C86"/>
                </a:solidFill>
                <a:latin typeface="Calibri" pitchFamily="34" charset="0"/>
                <a:ea typeface="Calibri" pitchFamily="34" charset="-122"/>
                <a:cs typeface="Calibri" pitchFamily="34" charset="-120"/>
              </a:rPr>
              <a:t>#19,847,332</a:t>
            </a:r>
            <a:endParaRPr lang="en-US" sz="800" dirty="0"/>
          </a:p>
        </p:txBody>
      </p:sp>
      <p:sp>
        <p:nvSpPr>
          <p:cNvPr id="76" name="Shape 73"/>
          <p:cNvSpPr/>
          <p:nvPr/>
        </p:nvSpPr>
        <p:spPr>
          <a:xfrm>
            <a:off x="6336792" y="4114800"/>
            <a:ext cx="2468880" cy="457200"/>
          </a:xfrm>
          <a:prstGeom prst="rect">
            <a:avLst/>
          </a:prstGeom>
          <a:solidFill>
            <a:srgbClr val="1A5C38"/>
          </a:solidFill>
          <a:ln w="12700">
            <a:solidFill>
              <a:srgbClr val="1A5C38"/>
            </a:solidFill>
            <a:prstDash val="solid"/>
          </a:ln>
        </p:spPr>
      </p:sp>
      <p:sp>
        <p:nvSpPr>
          <p:cNvPr id="77" name="Text 74"/>
          <p:cNvSpPr/>
          <p:nvPr/>
        </p:nvSpPr>
        <p:spPr>
          <a:xfrm>
            <a:off x="6382512" y="4133088"/>
            <a:ext cx="2377440" cy="420624"/>
          </a:xfrm>
          <a:prstGeom prst="rect">
            <a:avLst/>
          </a:prstGeom>
          <a:noFill/>
          <a:ln/>
        </p:spPr>
        <p:txBody>
          <a:bodyPr wrap="square" lIns="0" tIns="0" rIns="0" bIns="0" rtlCol="0" anchor="ctr"/>
          <a:lstStyle/>
          <a:p>
            <a:pPr indent="0" marL="0">
              <a:lnSpc>
                <a:spcPct val="130000"/>
              </a:lnSpc>
              <a:buNone/>
            </a:pPr>
            <a:r>
              <a:rPr lang="en-US" sz="850" b="1" dirty="0">
                <a:solidFill>
                  <a:srgbClr val="FFFFFF"/>
                </a:solidFill>
                <a:latin typeface="Calibri" pitchFamily="34" charset="0"/>
                <a:ea typeface="Calibri" pitchFamily="34" charset="-122"/>
                <a:cs typeface="Calibri" pitchFamily="34" charset="-120"/>
              </a:rPr>
              <a:t>✅  Transaction vérifiée</a:t>
            </a:r>
            <a:endParaRPr lang="en-US" sz="850" dirty="0"/>
          </a:p>
          <a:p>
            <a:pPr indent="0" marL="0">
              <a:lnSpc>
                <a:spcPct val="130000"/>
              </a:lnSpc>
              <a:buNone/>
            </a:pPr>
            <a:r>
              <a:rPr lang="en-US" sz="850" b="1" dirty="0">
                <a:solidFill>
                  <a:srgbClr val="FFFFFF"/>
                </a:solidFill>
                <a:latin typeface="Calibri" pitchFamily="34" charset="0"/>
                <a:ea typeface="Calibri" pitchFamily="34" charset="-122"/>
                <a:cs typeface="Calibri" pitchFamily="34" charset="-120"/>
              </a:rPr>
              <a:t>Personne n'a pu la modifier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A4E8F">
              <a:alpha val="25000"/>
            </a:srgbClr>
          </a:solidFill>
          <a:ln w="12700">
            <a:solidFill>
              <a:srgbClr val="1A4E8F"/>
            </a:solidFill>
            <a:prstDash val="solid"/>
          </a:ln>
        </p:spPr>
      </p:sp>
      <p:sp>
        <p:nvSpPr>
          <p:cNvPr id="3" name="Shape 1"/>
          <p:cNvSpPr/>
          <p:nvPr/>
        </p:nvSpPr>
        <p:spPr>
          <a:xfrm>
            <a:off x="0" y="0"/>
            <a:ext cx="64008" cy="5143500"/>
          </a:xfrm>
          <a:prstGeom prst="rect">
            <a:avLst/>
          </a:prstGeom>
          <a:solidFill>
            <a:srgbClr val="E8690E"/>
          </a:solidFill>
          <a:ln w="12700">
            <a:solidFill>
              <a:srgbClr val="E8690E"/>
            </a:solidFill>
            <a:prstDash val="solid"/>
          </a:ln>
        </p:spPr>
      </p:sp>
      <p:pic>
        <p:nvPicPr>
          <p:cNvPr id="4" name="Image 0" descr="/home/claude/komoe_logo.jpg"/>
          <p:cNvPicPr>
            <a:picLocks noChangeAspect="1"/>
          </p:cNvPicPr>
          <p:nvPr/>
        </p:nvPicPr>
        <p:blipFill>
          <a:blip r:embed="rId1">
            <a:alphaModFix amt="90000"/>
          </a:blip>
          <a:stretch>
            <a:fillRect/>
          </a:stretch>
        </p:blipFill>
        <p:spPr>
          <a:xfrm>
            <a:off x="6675120" y="457200"/>
            <a:ext cx="2103120" cy="2103120"/>
          </a:xfrm>
          <a:prstGeom prst="rect">
            <a:avLst/>
          </a:prstGeom>
        </p:spPr>
      </p:pic>
      <p:sp>
        <p:nvSpPr>
          <p:cNvPr id="5" name="Text 2"/>
          <p:cNvSpPr/>
          <p:nvPr/>
        </p:nvSpPr>
        <p:spPr>
          <a:xfrm>
            <a:off x="457200" y="411480"/>
            <a:ext cx="4572000" cy="256032"/>
          </a:xfrm>
          <a:prstGeom prst="rect">
            <a:avLst/>
          </a:prstGeom>
          <a:noFill/>
          <a:ln/>
        </p:spPr>
        <p:txBody>
          <a:bodyPr wrap="square" lIns="0" tIns="0" rIns="0" bIns="0" rtlCol="0" anchor="ctr"/>
          <a:lstStyle/>
          <a:p>
            <a:pPr indent="0" marL="0">
              <a:buNone/>
            </a:pPr>
            <a:r>
              <a:rPr lang="en-US" sz="900" b="1" spc="300" kern="0" dirty="0">
                <a:solidFill>
                  <a:srgbClr val="E8690E"/>
                </a:solidFill>
                <a:latin typeface="Calibri" pitchFamily="34" charset="0"/>
                <a:ea typeface="Calibri" pitchFamily="34" charset="-122"/>
                <a:cs typeface="Calibri" pitchFamily="34" charset="-120"/>
              </a:rPr>
              <a:t>CONCLUSION</a:t>
            </a:r>
            <a:endParaRPr lang="en-US" sz="900" dirty="0"/>
          </a:p>
        </p:txBody>
      </p:sp>
      <p:sp>
        <p:nvSpPr>
          <p:cNvPr id="6" name="Text 3"/>
          <p:cNvSpPr/>
          <p:nvPr/>
        </p:nvSpPr>
        <p:spPr>
          <a:xfrm>
            <a:off x="457200" y="731520"/>
            <a:ext cx="5760720" cy="1828800"/>
          </a:xfrm>
          <a:prstGeom prst="rect">
            <a:avLst/>
          </a:prstGeom>
          <a:noFill/>
          <a:ln/>
        </p:spPr>
        <p:txBody>
          <a:bodyPr wrap="square" lIns="0" tIns="0" rIns="0" bIns="0" rtlCol="0" anchor="ctr"/>
          <a:lstStyle/>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KOMOE transforme</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la comptabilité publique</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en registre inviolable.</a:t>
            </a:r>
            <a:endParaRPr lang="en-US" sz="2400" dirty="0"/>
          </a:p>
        </p:txBody>
      </p:sp>
      <p:sp>
        <p:nvSpPr>
          <p:cNvPr id="7" name="Shape 4"/>
          <p:cNvSpPr/>
          <p:nvPr/>
        </p:nvSpPr>
        <p:spPr>
          <a:xfrm>
            <a:off x="457200" y="2670048"/>
            <a:ext cx="5669280" cy="1005840"/>
          </a:xfrm>
          <a:prstGeom prst="rect">
            <a:avLst/>
          </a:prstGeom>
          <a:solidFill>
            <a:srgbClr val="1A4E8F"/>
          </a:solidFill>
          <a:ln w="6350">
            <a:solidFill>
              <a:srgbClr val="2E6BC4"/>
            </a:solidFill>
            <a:prstDash val="solid"/>
          </a:ln>
        </p:spPr>
      </p:sp>
      <p:sp>
        <p:nvSpPr>
          <p:cNvPr id="8" name="Text 5"/>
          <p:cNvSpPr/>
          <p:nvPr/>
        </p:nvSpPr>
        <p:spPr>
          <a:xfrm>
            <a:off x="594360" y="2724912"/>
            <a:ext cx="5394960" cy="914400"/>
          </a:xfrm>
          <a:prstGeom prst="rect">
            <a:avLst/>
          </a:prstGeom>
          <a:noFill/>
          <a:ln/>
        </p:spPr>
        <p:txBody>
          <a:bodyPr wrap="square" lIns="0" tIns="0" rIns="0" bIns="0" rtlCol="0" anchor="ctr"/>
          <a:lstStyle/>
          <a:p>
            <a:pPr indent="0" marL="0">
              <a:lnSpc>
                <a:spcPct val="140000"/>
              </a:lnSpc>
              <a:buNone/>
            </a:pPr>
            <a:r>
              <a:rPr lang="en-US" sz="1000" i="1" dirty="0">
                <a:solidFill>
                  <a:srgbClr val="FFFFFF"/>
                </a:solidFill>
                <a:latin typeface="Calibri" pitchFamily="34" charset="0"/>
                <a:ea typeface="Calibri" pitchFamily="34" charset="-122"/>
                <a:cs typeface="Calibri" pitchFamily="34" charset="-120"/>
              </a:rPr>
              <a:t>« Chaque entrée et sortie financière enregistrée sur blockchain est permanente et publique. Personne — pas même le maire — ne peut modifier ou effacer un enregistrement. La comptabilité devient un registre public vérifiable par tous en temps réel. »</a:t>
            </a:r>
            <a:endParaRPr lang="en-US" sz="1000" dirty="0"/>
          </a:p>
        </p:txBody>
      </p:sp>
      <p:sp>
        <p:nvSpPr>
          <p:cNvPr id="9" name="Shape 6"/>
          <p:cNvSpPr/>
          <p:nvPr/>
        </p:nvSpPr>
        <p:spPr>
          <a:xfrm>
            <a:off x="457200" y="3794760"/>
            <a:ext cx="1737360" cy="914400"/>
          </a:xfrm>
          <a:prstGeom prst="rect">
            <a:avLst/>
          </a:prstGeom>
          <a:solidFill>
            <a:srgbClr val="C95E00"/>
          </a:solidFill>
          <a:ln w="12700">
            <a:solidFill>
              <a:srgbClr val="FFFFFF"/>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457200" y="3822192"/>
            <a:ext cx="173736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201</a:t>
            </a:r>
            <a:endParaRPr lang="en-US" sz="2400" dirty="0"/>
          </a:p>
        </p:txBody>
      </p:sp>
      <p:sp>
        <p:nvSpPr>
          <p:cNvPr id="11" name="Text 8"/>
          <p:cNvSpPr/>
          <p:nvPr/>
        </p:nvSpPr>
        <p:spPr>
          <a:xfrm>
            <a:off x="457200" y="4251960"/>
            <a:ext cx="1737360" cy="411480"/>
          </a:xfrm>
          <a:prstGeom prst="rect">
            <a:avLst/>
          </a:prstGeom>
          <a:noFill/>
          <a:ln/>
        </p:spPr>
        <p:txBody>
          <a:bodyPr wrap="square" lIns="0" tIns="0" rIns="0" bIns="0" rtlCol="0" anchor="ctr"/>
          <a:lstStyle/>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communes</a:t>
            </a:r>
            <a:endParaRPr lang="en-US" sz="750" dirty="0"/>
          </a:p>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ivoiriennes ciblées</a:t>
            </a:r>
            <a:endParaRPr lang="en-US" sz="750" dirty="0"/>
          </a:p>
        </p:txBody>
      </p:sp>
      <p:sp>
        <p:nvSpPr>
          <p:cNvPr id="12" name="Shape 9"/>
          <p:cNvSpPr/>
          <p:nvPr/>
        </p:nvSpPr>
        <p:spPr>
          <a:xfrm>
            <a:off x="2377440" y="3794760"/>
            <a:ext cx="1737360" cy="914400"/>
          </a:xfrm>
          <a:prstGeom prst="rect">
            <a:avLst/>
          </a:prstGeom>
          <a:solidFill>
            <a:srgbClr val="0E7C86"/>
          </a:solidFill>
          <a:ln w="12700">
            <a:solidFill>
              <a:srgbClr val="FFFFFF"/>
            </a:solidFill>
            <a:prstDash val="solid"/>
          </a:ln>
          <a:effectLst>
            <a:outerShdw sx="100000" sy="100000" kx="0" ky="0" algn="bl" rotWithShape="0" blurRad="101600" dist="38100" dir="8100000">
              <a:srgbClr val="000000">
                <a:alpha val="12000"/>
              </a:srgbClr>
            </a:outerShdw>
          </a:effectLst>
        </p:spPr>
      </p:sp>
      <p:sp>
        <p:nvSpPr>
          <p:cNvPr id="13" name="Text 10"/>
          <p:cNvSpPr/>
          <p:nvPr/>
        </p:nvSpPr>
        <p:spPr>
          <a:xfrm>
            <a:off x="2377440" y="3822192"/>
            <a:ext cx="173736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&lt; 30s</a:t>
            </a:r>
            <a:endParaRPr lang="en-US" sz="2400" dirty="0"/>
          </a:p>
        </p:txBody>
      </p:sp>
      <p:sp>
        <p:nvSpPr>
          <p:cNvPr id="14" name="Text 11"/>
          <p:cNvSpPr/>
          <p:nvPr/>
        </p:nvSpPr>
        <p:spPr>
          <a:xfrm>
            <a:off x="2377440" y="4251960"/>
            <a:ext cx="1737360" cy="411480"/>
          </a:xfrm>
          <a:prstGeom prst="rect">
            <a:avLst/>
          </a:prstGeom>
          <a:noFill/>
          <a:ln/>
        </p:spPr>
        <p:txBody>
          <a:bodyPr wrap="square" lIns="0" tIns="0" rIns="0" bIns="0" rtlCol="0" anchor="ctr"/>
          <a:lstStyle/>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de la saisie à la</a:t>
            </a:r>
            <a:endParaRPr lang="en-US" sz="750" dirty="0"/>
          </a:p>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visibilité publique</a:t>
            </a:r>
            <a:endParaRPr lang="en-US" sz="750" dirty="0"/>
          </a:p>
        </p:txBody>
      </p:sp>
      <p:sp>
        <p:nvSpPr>
          <p:cNvPr id="15" name="Shape 12"/>
          <p:cNvSpPr/>
          <p:nvPr/>
        </p:nvSpPr>
        <p:spPr>
          <a:xfrm>
            <a:off x="4297680" y="3794760"/>
            <a:ext cx="1737360" cy="914400"/>
          </a:xfrm>
          <a:prstGeom prst="rect">
            <a:avLst/>
          </a:prstGeom>
          <a:solidFill>
            <a:srgbClr val="1A5C38"/>
          </a:solidFill>
          <a:ln w="12700">
            <a:solidFill>
              <a:srgbClr val="FFFFFF"/>
            </a:solidFill>
            <a:prstDash val="solid"/>
          </a:ln>
          <a:effectLst>
            <a:outerShdw sx="100000" sy="100000" kx="0" ky="0" algn="bl" rotWithShape="0" blurRad="101600" dist="38100" dir="8100000">
              <a:srgbClr val="000000">
                <a:alpha val="12000"/>
              </a:srgbClr>
            </a:outerShdw>
          </a:effectLst>
        </p:spPr>
      </p:sp>
      <p:sp>
        <p:nvSpPr>
          <p:cNvPr id="16" name="Text 13"/>
          <p:cNvSpPr/>
          <p:nvPr/>
        </p:nvSpPr>
        <p:spPr>
          <a:xfrm>
            <a:off x="4297680" y="3822192"/>
            <a:ext cx="173736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a:t>
            </a:r>
            <a:endParaRPr lang="en-US" sz="2400" dirty="0"/>
          </a:p>
        </p:txBody>
      </p:sp>
      <p:sp>
        <p:nvSpPr>
          <p:cNvPr id="17" name="Text 14"/>
          <p:cNvSpPr/>
          <p:nvPr/>
        </p:nvSpPr>
        <p:spPr>
          <a:xfrm>
            <a:off x="4297680" y="4251960"/>
            <a:ext cx="1737360" cy="411480"/>
          </a:xfrm>
          <a:prstGeom prst="rect">
            <a:avLst/>
          </a:prstGeom>
          <a:noFill/>
          <a:ln/>
        </p:spPr>
        <p:txBody>
          <a:bodyPr wrap="square" lIns="0" tIns="0" rIns="0" bIns="0" rtlCol="0" anchor="ctr"/>
          <a:lstStyle/>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irrégularité possible</a:t>
            </a:r>
            <a:endParaRPr lang="en-US" sz="750" dirty="0"/>
          </a:p>
          <a:p>
            <a:pPr algn="ctr" indent="0" marL="0">
              <a:lnSpc>
                <a:spcPct val="120000"/>
              </a:lnSpc>
              <a:buNone/>
            </a:pPr>
            <a:r>
              <a:rPr lang="en-US" sz="750" dirty="0">
                <a:solidFill>
                  <a:srgbClr val="FFFFFF"/>
                </a:solidFill>
                <a:latin typeface="Calibri" pitchFamily="34" charset="0"/>
                <a:ea typeface="Calibri" pitchFamily="34" charset="-122"/>
                <a:cs typeface="Calibri" pitchFamily="34" charset="-120"/>
              </a:rPr>
              <a:t>apres enregistrement</a:t>
            </a:r>
            <a:endParaRPr lang="en-US" sz="750" dirty="0"/>
          </a:p>
        </p:txBody>
      </p:sp>
      <p:sp>
        <p:nvSpPr>
          <p:cNvPr id="18" name="Shape 15"/>
          <p:cNvSpPr/>
          <p:nvPr/>
        </p:nvSpPr>
        <p:spPr>
          <a:xfrm>
            <a:off x="0" y="4919472"/>
            <a:ext cx="9144000" cy="224028"/>
          </a:xfrm>
          <a:prstGeom prst="rect">
            <a:avLst/>
          </a:prstGeom>
          <a:solidFill>
            <a:srgbClr val="C95E00"/>
          </a:solidFill>
          <a:ln w="12700">
            <a:solidFill>
              <a:srgbClr val="C95E00"/>
            </a:solidFill>
            <a:prstDash val="solid"/>
          </a:ln>
        </p:spPr>
      </p:sp>
      <p:sp>
        <p:nvSpPr>
          <p:cNvPr id="19" name="Text 16"/>
          <p:cNvSpPr/>
          <p:nvPr/>
        </p:nvSpPr>
        <p:spPr>
          <a:xfrm>
            <a:off x="182880" y="4928616"/>
            <a:ext cx="8778240"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KOMOE · Transparence Budgétaire · MIABE Hackathon 2026 · Darollo Technologies Corporation · www.miabehackathon.com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KOMOE — Architecture Blockchain · Transparence Budgétaire CI</dc:title>
  <dc:subject>PptxGenJS Presentation</dc:subject>
  <dc:creator>KOMOE · Darollo Technologies Corporation</dc:creator>
  <cp:lastModifiedBy>KOMOE · Darollo Technologies Corporation</cp:lastModifiedBy>
  <cp:revision>1</cp:revision>
  <dcterms:created xsi:type="dcterms:W3CDTF">2026-04-17T13:40:44Z</dcterms:created>
  <dcterms:modified xsi:type="dcterms:W3CDTF">2026-04-17T13:40:44Z</dcterms:modified>
</cp:coreProperties>
</file>